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575070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THEME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939800"/>
            <a:ext cx="5750706" cy="55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Reimagined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2800" y="1623049"/>
            <a:ext cx="63500" cy="63500"/>
          </a:xfrm>
          <a:prstGeom prst="roundRect">
            <a:avLst>
              <a:gd name="adj" fmla="val 50000"/>
            </a:avLst>
          </a:prstGeom>
          <a:solidFill>
            <a:srgbClr val="F58025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1623049"/>
            <a:ext cx="391770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lack visibility into productivity leakage.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800" y="1959599"/>
            <a:ext cx="63500" cy="63500"/>
          </a:xfrm>
          <a:prstGeom prst="roundRect">
            <a:avLst>
              <a:gd name="adj" fmla="val 50000"/>
            </a:avLst>
          </a:prstGeom>
          <a:solidFill>
            <a:srgbClr val="F58025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1959599"/>
            <a:ext cx="387842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spend too much time on repetitive work.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842376" y="612775"/>
            <a:ext cx="2533650" cy="1810374"/>
          </a:xfrm>
          <a:prstGeom prst="roundRect">
            <a:avLst>
              <a:gd name="adj" fmla="val 5437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  <a:effectLst>
            <a:outerShdw sx="100000" sy="100000" kx="0" ky="0" algn="bl" rotWithShape="0" blurRad="190500" dist="63500" dir="5400000">
              <a:srgbClr val="0F1B2D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047843" y="818243"/>
            <a:ext cx="2186396" cy="17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047843" y="1007467"/>
            <a:ext cx="218639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Workflow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047843" y="1357965"/>
            <a:ext cx="2186396" cy="17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 NAMES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047843" y="1547189"/>
            <a:ext cx="2186396" cy="69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Sunil Kumar, Ajmeera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Lakshmansamvith, Dunna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Prasanth, Varipireddi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2800" y="5603790"/>
            <a:ext cx="5801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54846" y="5603790"/>
            <a:ext cx="7244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i="1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2000" dirty="0"/>
          </a:p>
        </p:txBody>
      </p:sp>
      <p:pic>
        <p:nvPicPr>
          <p:cNvPr id="15" name="Image 0" descr="line">    </p:cNvPr>
          <p:cNvPicPr>
            <a:picLocks noChangeAspect="1"/>
          </p:cNvPicPr>
          <p:nvPr/>
        </p:nvPicPr>
        <p:blipFill>
          <a:blip r:embed="rId1"/>
          <a:srcRect l="-8332" r="-8332" t="0" b="0"/>
          <a:stretch/>
        </p:blipFill>
        <p:spPr>
          <a:xfrm>
            <a:off x="812800" y="6022890"/>
            <a:ext cx="3048000" cy="1088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12800" y="6097276"/>
            <a:ext cx="10883393" cy="17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spc="150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IGNITING MINDS. A(</a:t>
            </a:r>
            <a:r>
              <a:rPr lang="en-US" sz="850" b="1" spc="15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850" b="1" spc="150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)CCELERATING IDEAS.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TO THE BUSINESS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492250"/>
            <a:ext cx="2508250" cy="4349750"/>
          </a:xfrm>
          <a:prstGeom prst="roundRect">
            <a:avLst>
              <a:gd name="adj" fmla="val 4051"/>
            </a:avLst>
          </a:prstGeom>
          <a:solidFill>
            <a:srgbClr val="FDECEC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720850"/>
            <a:ext cx="2112582" cy="41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41400" y="2226299"/>
            <a:ext cx="2112582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41400" y="2546322"/>
            <a:ext cx="2112582" cy="105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5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release cycle, the business pays for the same manual verification work to happen again — effort that adds no new value the second time.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98850" y="1492250"/>
            <a:ext cx="2508250" cy="4349750"/>
          </a:xfrm>
          <a:prstGeom prst="roundRect">
            <a:avLst>
              <a:gd name="adj" fmla="val 4051"/>
            </a:avLst>
          </a:prstGeom>
          <a:solidFill>
            <a:srgbClr val="FDF3E0"/>
          </a:solidFill>
          <a:ln/>
        </p:spPr>
      </p:sp>
      <p:sp>
        <p:nvSpPr>
          <p:cNvPr id="9" name="Text 7"/>
          <p:cNvSpPr/>
          <p:nvPr/>
        </p:nvSpPr>
        <p:spPr>
          <a:xfrm>
            <a:off x="3727450" y="1720850"/>
            <a:ext cx="2112582" cy="41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27450" y="2226299"/>
            <a:ext cx="2112582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27450" y="2546322"/>
            <a:ext cx="2112582" cy="105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5A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proof of what was actually checked, gaps in the application go live undetected — until a customer or an audit finds them first.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4900" y="1492250"/>
            <a:ext cx="2508250" cy="4349750"/>
          </a:xfrm>
          <a:prstGeom prst="roundRect">
            <a:avLst>
              <a:gd name="adj" fmla="val 4051"/>
            </a:avLst>
          </a:prstGeom>
          <a:solidFill>
            <a:srgbClr val="E8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13500" y="1720850"/>
            <a:ext cx="2112582" cy="41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13500" y="2226299"/>
            <a:ext cx="2112582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13500" y="2546322"/>
            <a:ext cx="2112582" cy="852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2A3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Confirming coverage can't scale with release frequency, so releases either slow down or ship with unverified confidence.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70951" y="1492250"/>
            <a:ext cx="2508250" cy="4349750"/>
          </a:xfrm>
          <a:prstGeom prst="roundRect">
            <a:avLst>
              <a:gd name="adj" fmla="val 4051"/>
            </a:avLst>
          </a:prstGeom>
          <a:solidFill>
            <a:srgbClr val="F4F6FA"/>
          </a:solidFill>
          <a:ln/>
        </p:spPr>
      </p:sp>
      <p:sp>
        <p:nvSpPr>
          <p:cNvPr id="17" name="Text 15"/>
          <p:cNvSpPr/>
          <p:nvPr/>
        </p:nvSpPr>
        <p:spPr>
          <a:xfrm>
            <a:off x="9099551" y="1720850"/>
            <a:ext cx="2112582" cy="41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99551" y="2226299"/>
            <a:ext cx="2112582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099551" y="2546322"/>
            <a:ext cx="2112582" cy="852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report exists that leadership can open and trust — coverage claims are anecdotal, not evidence-based.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12800" y="6238252"/>
            <a:ext cx="474151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recurring cost, hidden risk, and no evidence to show for 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05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Solution</a:t>
            </a:r>
            <a:endParaRPr lang="en-US" sz="2600" dirty="0"/>
          </a:p>
        </p:txBody>
      </p:sp>
      <p:pic>
        <p:nvPicPr>
          <p:cNvPr id="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67000" y="1719576"/>
            <a:ext cx="355600" cy="101600"/>
          </a:xfrm>
          <a:prstGeom prst="rect">
            <a:avLst/>
          </a:prstGeom>
        </p:spPr>
      </p:pic>
      <p:pic>
        <p:nvPicPr>
          <p:cNvPr id="5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26000" y="1719576"/>
            <a:ext cx="355600" cy="101600"/>
          </a:xfrm>
          <a:prstGeom prst="rect">
            <a:avLst/>
          </a:prstGeom>
        </p:spPr>
      </p:pic>
      <p:pic>
        <p:nvPicPr>
          <p:cNvPr id="6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85000" y="1719576"/>
            <a:ext cx="355600" cy="101600"/>
          </a:xfrm>
          <a:prstGeom prst="rect">
            <a:avLst/>
          </a:prstGeom>
        </p:spPr>
      </p:pic>
      <p:pic>
        <p:nvPicPr>
          <p:cNvPr id="7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44001" y="1719576"/>
            <a:ext cx="355600" cy="1016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812800" y="1357626"/>
            <a:ext cx="1905000" cy="825500"/>
          </a:xfrm>
          <a:prstGeom prst="roundRect">
            <a:avLst>
              <a:gd name="adj" fmla="val 12308"/>
            </a:avLst>
          </a:prstGeom>
          <a:solidFill>
            <a:srgbClr val="F4F6FA"/>
          </a:solidFill>
          <a:ln/>
        </p:spPr>
      </p:sp>
      <p:sp>
        <p:nvSpPr>
          <p:cNvPr id="9" name="Text 3"/>
          <p:cNvSpPr/>
          <p:nvPr/>
        </p:nvSpPr>
        <p:spPr>
          <a:xfrm>
            <a:off x="1622964" y="1506851"/>
            <a:ext cx="335444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1090896" y="1864973"/>
            <a:ext cx="1348780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Under Test</a:t>
            </a:r>
            <a:endParaRPr lang="en-US" sz="950" dirty="0"/>
          </a:p>
        </p:txBody>
      </p:sp>
      <p:sp>
        <p:nvSpPr>
          <p:cNvPr id="11" name="Text 5"/>
          <p:cNvSpPr/>
          <p:nvPr/>
        </p:nvSpPr>
        <p:spPr>
          <a:xfrm>
            <a:off x="812800" y="2310126"/>
            <a:ext cx="196215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banking application whose pages and actions need to be verified every release.</a:t>
            </a:r>
            <a:endParaRPr lang="en-US" sz="850" dirty="0"/>
          </a:p>
        </p:txBody>
      </p:sp>
      <p:sp>
        <p:nvSpPr>
          <p:cNvPr id="12" name="Shape 6"/>
          <p:cNvSpPr/>
          <p:nvPr/>
        </p:nvSpPr>
        <p:spPr>
          <a:xfrm>
            <a:off x="2971800" y="1357626"/>
            <a:ext cx="1905000" cy="825500"/>
          </a:xfrm>
          <a:prstGeom prst="roundRect">
            <a:avLst>
              <a:gd name="adj" fmla="val 12308"/>
            </a:avLst>
          </a:prstGeom>
          <a:solidFill>
            <a:srgbClr val="F4F6FA"/>
          </a:solidFill>
          <a:ln/>
        </p:spPr>
      </p:sp>
      <p:sp>
        <p:nvSpPr>
          <p:cNvPr id="13" name="Text 7"/>
          <p:cNvSpPr/>
          <p:nvPr/>
        </p:nvSpPr>
        <p:spPr>
          <a:xfrm>
            <a:off x="3781964" y="1506851"/>
            <a:ext cx="335444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3240031" y="1864973"/>
            <a:ext cx="1368538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CoverageEngine Plugin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2971800" y="2310126"/>
            <a:ext cx="196215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automatically and watches every page and action — recording what's touched and what's missed.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5130800" y="1357626"/>
            <a:ext cx="1905000" cy="825500"/>
          </a:xfrm>
          <a:prstGeom prst="roundRect">
            <a:avLst>
              <a:gd name="adj" fmla="val 12308"/>
            </a:avLst>
          </a:prstGeom>
          <a:solidFill>
            <a:srgbClr val="F4F6FA"/>
          </a:solidFill>
          <a:ln/>
        </p:spPr>
      </p:sp>
      <p:sp>
        <p:nvSpPr>
          <p:cNvPr id="17" name="Text 11"/>
          <p:cNvSpPr/>
          <p:nvPr/>
        </p:nvSpPr>
        <p:spPr>
          <a:xfrm>
            <a:off x="5940964" y="1506851"/>
            <a:ext cx="335444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5506046" y="1864973"/>
            <a:ext cx="1154509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Scripts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5130800" y="2310126"/>
            <a:ext cx="196215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test scripts run the same checks on their own — no manual clicking, on any application.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7289800" y="1357626"/>
            <a:ext cx="1905000" cy="825500"/>
          </a:xfrm>
          <a:prstGeom prst="roundRect">
            <a:avLst>
              <a:gd name="adj" fmla="val 12308"/>
            </a:avLst>
          </a:prstGeom>
          <a:solidFill>
            <a:srgbClr val="F4F6FA"/>
          </a:solidFill>
          <a:ln/>
        </p:spPr>
      </p:sp>
      <p:sp>
        <p:nvSpPr>
          <p:cNvPr id="21" name="Text 15"/>
          <p:cNvSpPr/>
          <p:nvPr/>
        </p:nvSpPr>
        <p:spPr>
          <a:xfrm>
            <a:off x="8099964" y="1506851"/>
            <a:ext cx="335444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7791847" y="1864973"/>
            <a:ext cx="900906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Sync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289800" y="2310126"/>
            <a:ext cx="196215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plugin and the scripts sync automatically, combining coverage with pass/fail results.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9448801" y="1357626"/>
            <a:ext cx="1905000" cy="825500"/>
          </a:xfrm>
          <a:prstGeom prst="roundRect">
            <a:avLst>
              <a:gd name="adj" fmla="val 12308"/>
            </a:avLst>
          </a:prstGeom>
          <a:solidFill>
            <a:srgbClr val="F58025"/>
          </a:solidFill>
          <a:ln/>
        </p:spPr>
      </p:sp>
      <p:sp>
        <p:nvSpPr>
          <p:cNvPr id="25" name="Text 19"/>
          <p:cNvSpPr/>
          <p:nvPr/>
        </p:nvSpPr>
        <p:spPr>
          <a:xfrm>
            <a:off x="10258964" y="1506851"/>
            <a:ext cx="335444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9866568" y="1864973"/>
            <a:ext cx="1069465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Generated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448801" y="2310126"/>
            <a:ext cx="196215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shareable report — results and coverage gaps side by side — no manual assembly.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812800" y="3643626"/>
            <a:ext cx="10566401" cy="2159000"/>
          </a:xfrm>
          <a:prstGeom prst="roundRect">
            <a:avLst>
              <a:gd name="adj" fmla="val 4706"/>
            </a:avLst>
          </a:prstGeom>
          <a:solidFill>
            <a:srgbClr val="0F1B2D"/>
          </a:solidFill>
          <a:ln/>
        </p:spPr>
      </p:sp>
      <p:sp>
        <p:nvSpPr>
          <p:cNvPr id="29" name="Text 23"/>
          <p:cNvSpPr/>
          <p:nvPr/>
        </p:nvSpPr>
        <p:spPr>
          <a:xfrm>
            <a:off x="1117600" y="4304026"/>
            <a:ext cx="10255505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1117600" y="4613900"/>
            <a:ext cx="10255505" cy="55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automation run checks the whole application on its own, confirms exactly what was covered, and hands back one report — 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open and share, without a single manual click.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441450"/>
            <a:ext cx="3403600" cy="3547127"/>
          </a:xfrm>
          <a:prstGeom prst="roundRect">
            <a:avLst>
              <a:gd name="adj" fmla="val 3731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2209800" y="1695450"/>
            <a:ext cx="609600" cy="609600"/>
          </a:xfrm>
          <a:prstGeom prst="roundRect">
            <a:avLst>
              <a:gd name="adj" fmla="val 22917"/>
            </a:avLst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2332746" y="1795774"/>
            <a:ext cx="414508" cy="4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803060" y="2419350"/>
            <a:ext cx="1423052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Plugin, Not an AI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627840" y="2740025"/>
            <a:ext cx="1773521" cy="3048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716740" y="2803525"/>
            <a:ext cx="20895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38394" y="2821299"/>
            <a:ext cx="1124999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model, no inference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27840" y="3108325"/>
            <a:ext cx="1773521" cy="3048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16740" y="3171825"/>
            <a:ext cx="20895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38394" y="3189599"/>
            <a:ext cx="1424866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tokens, no per-use charge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27840" y="3476625"/>
            <a:ext cx="1773521" cy="3048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716740" y="3540125"/>
            <a:ext cx="20895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38394" y="3557899"/>
            <a:ext cx="1423336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F9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free, on any application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394200" y="1441450"/>
            <a:ext cx="3403600" cy="3547127"/>
          </a:xfrm>
          <a:prstGeom prst="roundRect">
            <a:avLst>
              <a:gd name="adj" fmla="val 3731"/>
            </a:avLst>
          </a:prstGeom>
          <a:solidFill>
            <a:srgbClr val="F4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5791200" y="1695450"/>
            <a:ext cx="609600" cy="609600"/>
          </a:xfrm>
          <a:prstGeom prst="roundRect">
            <a:avLst>
              <a:gd name="adj" fmla="val 22917"/>
            </a:avLst>
          </a:prstGeom>
          <a:solidFill>
            <a:srgbClr val="F58025"/>
          </a:solidFill>
          <a:ln/>
        </p:spPr>
      </p:sp>
      <p:sp>
        <p:nvSpPr>
          <p:cNvPr id="19" name="Text 17"/>
          <p:cNvSpPr/>
          <p:nvPr/>
        </p:nvSpPr>
        <p:spPr>
          <a:xfrm>
            <a:off x="5914146" y="1795774"/>
            <a:ext cx="414508" cy="4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5425338" y="2419350"/>
            <a:ext cx="134129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Gain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67313" y="2740025"/>
            <a:ext cx="191309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4539361" y="3489325"/>
            <a:ext cx="3113278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verification per release cycle — time given back to the team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975600" y="1441450"/>
            <a:ext cx="3403600" cy="3547127"/>
          </a:xfrm>
          <a:prstGeom prst="roundRect">
            <a:avLst>
              <a:gd name="adj" fmla="val 3731"/>
            </a:avLst>
          </a:prstGeom>
          <a:solidFill>
            <a:srgbClr val="0F1B2D"/>
          </a:solidFill>
          <a:ln/>
        </p:spPr>
      </p:sp>
      <p:sp>
        <p:nvSpPr>
          <p:cNvPr id="24" name="Shape 22"/>
          <p:cNvSpPr/>
          <p:nvPr/>
        </p:nvSpPr>
        <p:spPr>
          <a:xfrm>
            <a:off x="9372601" y="1695450"/>
            <a:ext cx="609600" cy="609600"/>
          </a:xfrm>
          <a:prstGeom prst="roundRect">
            <a:avLst>
              <a:gd name="adj" fmla="val 22917"/>
            </a:avLst>
          </a:prstGeom>
          <a:solidFill>
            <a:srgbClr val="F58025"/>
          </a:solidFill>
          <a:ln/>
        </p:spPr>
      </p:sp>
      <p:sp>
        <p:nvSpPr>
          <p:cNvPr id="25" name="Text 23"/>
          <p:cNvSpPr/>
          <p:nvPr/>
        </p:nvSpPr>
        <p:spPr>
          <a:xfrm>
            <a:off x="9495547" y="1795774"/>
            <a:ext cx="414508" cy="4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8509337" y="2419350"/>
            <a:ext cx="2336127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Safety Net for Every Release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20761" y="2740025"/>
            <a:ext cx="3113278" cy="399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3"/>
              </a:lnSpc>
              <a:buNone/>
            </a:pPr>
            <a:r>
              <a:rPr lang="en-US" sz="950" dirty="0">
                <a:solidFill>
                  <a:srgbClr val="C3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page checked, every time. Nothing skipped, nothing forgotten.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766374" y="3228294"/>
            <a:ext cx="1822025" cy="278124"/>
          </a:xfrm>
          <a:prstGeom prst="roundRect">
            <a:avLst>
              <a:gd name="adj" fmla="val 50000"/>
            </a:avLst>
          </a:prstGeom>
          <a:solidFill>
            <a:srgbClr val="F58025"/>
          </a:solidFill>
          <a:ln/>
        </p:spPr>
      </p:sp>
      <p:sp>
        <p:nvSpPr>
          <p:cNvPr id="29" name="Text 27"/>
          <p:cNvSpPr/>
          <p:nvPr/>
        </p:nvSpPr>
        <p:spPr>
          <a:xfrm>
            <a:off x="8906074" y="3291794"/>
            <a:ext cx="1593425" cy="17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know exactly what we ship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12800" y="5166376"/>
            <a:ext cx="10566401" cy="675623"/>
          </a:xfrm>
          <a:prstGeom prst="roundRect">
            <a:avLst>
              <a:gd name="adj" fmla="val 15038"/>
            </a:avLst>
          </a:prstGeom>
          <a:solidFill>
            <a:srgbClr val="F4F6FA"/>
          </a:solidFill>
          <a:ln/>
        </p:spPr>
      </p:sp>
      <p:sp>
        <p:nvSpPr>
          <p:cNvPr id="31" name="Text 29"/>
          <p:cNvSpPr/>
          <p:nvPr/>
        </p:nvSpPr>
        <p:spPr>
          <a:xfrm>
            <a:off x="1041400" y="5344176"/>
            <a:ext cx="335444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53044" y="5408924"/>
            <a:ext cx="898948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 isn't headcount cut — it's </a:t>
            </a:r>
            <a:r>
              <a:rPr lang="en-US" sz="10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reinvested</a:t>
            </a:r>
            <a:r>
              <a:rPr lang="en-US" sz="10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same team extends coverage to more applications instead of re-checking the ones already done.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47303" y="2265704"/>
            <a:ext cx="3097394" cy="726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52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825750" y="3195327"/>
            <a:ext cx="65405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3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Workflow — Sunil Kumar, Ajmeera · Lakshmansamvith, Dunna · Prasanth, Varipireddi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583039" y="3919227"/>
            <a:ext cx="474294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19233" y="3919227"/>
            <a:ext cx="589700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i="1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70638" y="4432300"/>
            <a:ext cx="2850724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spc="100" kern="0" dirty="0">
                <a:solidFill>
                  <a:srgbClr val="7D8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IGNITING MINDS. A(G)CCELERATING IDEAS.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CoverageEngine — Productivity Reimagined</dc:title>
  <dc:subject>PptxGenJS Presentation</dc:subject>
  <dc:creator>PptxGenJS</dc:creator>
  <cp:lastModifiedBy>PptxGenJS</cp:lastModifiedBy>
  <cp:revision>1</cp:revision>
  <dcterms:created xsi:type="dcterms:W3CDTF">2026-09-19T07:18:37Z</dcterms:created>
  <dcterms:modified xsi:type="dcterms:W3CDTF">2026-09-19T07:18:37Z</dcterms:modified>
</cp:coreProperties>
</file>