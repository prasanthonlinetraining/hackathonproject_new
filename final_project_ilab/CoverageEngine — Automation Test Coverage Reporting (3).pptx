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575070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THEME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939800"/>
            <a:ext cx="5750706" cy="55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Reimagined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2800" y="1623049"/>
            <a:ext cx="63500" cy="63500"/>
          </a:xfrm>
          <a:prstGeom prst="roundRect">
            <a:avLst>
              <a:gd name="adj" fmla="val 50000"/>
            </a:avLst>
          </a:prstGeom>
          <a:solidFill>
            <a:srgbClr val="F58025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1623049"/>
            <a:ext cx="387842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spend too much time on repetitive work.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2800" y="1959599"/>
            <a:ext cx="63500" cy="63500"/>
          </a:xfrm>
          <a:prstGeom prst="roundRect">
            <a:avLst>
              <a:gd name="adj" fmla="val 50000"/>
            </a:avLst>
          </a:prstGeom>
          <a:solidFill>
            <a:srgbClr val="F58025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1959599"/>
            <a:ext cx="391770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lack visibility into productivity leakage.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842376" y="612775"/>
            <a:ext cx="2533650" cy="1810374"/>
          </a:xfrm>
          <a:prstGeom prst="roundRect">
            <a:avLst>
              <a:gd name="adj" fmla="val 5437"/>
            </a:avLst>
          </a:prstGeom>
          <a:solidFill>
            <a:srgbClr val="FFFFFF"/>
          </a:solidFill>
          <a:ln w="6350">
            <a:solidFill>
              <a:srgbClr val="E6EBF1"/>
            </a:solidFill>
            <a:prstDash val="solid"/>
          </a:ln>
          <a:effectLst>
            <a:outerShdw sx="100000" sy="100000" kx="0" ky="0" algn="bl" rotWithShape="0" blurRad="190500" dist="63500" dir="5400000">
              <a:srgbClr val="0F1B2D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047843" y="818243"/>
            <a:ext cx="2186396" cy="176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047843" y="1007467"/>
            <a:ext cx="218639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Workflow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047843" y="1357965"/>
            <a:ext cx="2186396" cy="176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 NAMES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047843" y="1547189"/>
            <a:ext cx="2186396" cy="69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Sunil Kumar, Ajmeera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Lakshmansamvith, Dunna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Prasanth, Varipireddi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2800" y="5603790"/>
            <a:ext cx="5801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PNC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54846" y="5603790"/>
            <a:ext cx="7244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i="1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2000" dirty="0"/>
          </a:p>
        </p:txBody>
      </p:sp>
      <p:pic>
        <p:nvPicPr>
          <p:cNvPr id="15" name="Image 0" descr="line">    </p:cNvPr>
          <p:cNvPicPr>
            <a:picLocks noChangeAspect="1"/>
          </p:cNvPicPr>
          <p:nvPr/>
        </p:nvPicPr>
        <p:blipFill>
          <a:blip r:embed="rId1"/>
          <a:srcRect l="-8332" r="-8332" t="0" b="0"/>
          <a:stretch/>
        </p:blipFill>
        <p:spPr>
          <a:xfrm>
            <a:off x="812800" y="6022890"/>
            <a:ext cx="3048000" cy="1088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12800" y="6097276"/>
            <a:ext cx="10883393" cy="176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spc="150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IGNITING MINDS. A(</a:t>
            </a:r>
            <a:r>
              <a:rPr lang="en-US" sz="850" b="1" spc="15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850" b="1" spc="150" kern="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)CCELERATING IDEAS.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 ·  THE PROBLEM &amp; THE IDEA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825500"/>
            <a:ext cx="1088339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problem are we solving?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495425"/>
            <a:ext cx="6233886" cy="4343400"/>
          </a:xfrm>
          <a:prstGeom prst="roundRect">
            <a:avLst>
              <a:gd name="adj" fmla="val 2266"/>
            </a:avLst>
          </a:prstGeom>
          <a:solidFill>
            <a:srgbClr val="F4F6FA"/>
          </a:solidFill>
          <a:ln w="6350">
            <a:solidFill>
              <a:srgbClr val="E6EB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843" y="1726293"/>
            <a:ext cx="5945315" cy="20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6843" y="2036168"/>
            <a:ext cx="5945315" cy="1206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Manual, repeated page-by-page regression checking is exactly the kind of hidden productivity drain the theme calls out. Teams know pages exist, but nobody can say which modules, sub-modules and actions automation actually exercises — so QA re-clicks the same pages every cycle, and that effort produces no report anyone can trust or share.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59411" y="1495425"/>
            <a:ext cx="4116615" cy="1162759"/>
          </a:xfrm>
          <a:prstGeom prst="roundRect">
            <a:avLst>
              <a:gd name="adj" fmla="val 8465"/>
            </a:avLst>
          </a:prstGeom>
          <a:solidFill>
            <a:srgbClr val="F4F6FA"/>
          </a:solidFill>
          <a:ln w="6350">
            <a:solidFill>
              <a:srgbClr val="E6EB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39479" y="1675493"/>
            <a:ext cx="3869173" cy="193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39479" y="1906616"/>
            <a:ext cx="3869173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module → sub-module → functionality coverage; surface untouched areas as gaps; run unattended via automation; publish one combined execution + coverage report.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259411" y="2791534"/>
            <a:ext cx="4116615" cy="1162759"/>
          </a:xfrm>
          <a:prstGeom prst="roundRect">
            <a:avLst>
              <a:gd name="adj" fmla="val 8465"/>
            </a:avLst>
          </a:prstGeom>
          <a:solidFill>
            <a:srgbClr val="F4F6FA"/>
          </a:solidFill>
          <a:ln w="6350">
            <a:solidFill>
              <a:srgbClr val="E6EB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39479" y="2971602"/>
            <a:ext cx="3869173" cy="193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used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39479" y="3202725"/>
            <a:ext cx="3869173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+ TypeScript, a Manifest V3 browser extension, a CoverageEngine REST API, and a custom HTML/JSON test reporter.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59411" y="4087643"/>
            <a:ext cx="4116615" cy="1162759"/>
          </a:xfrm>
          <a:prstGeom prst="roundRect">
            <a:avLst>
              <a:gd name="adj" fmla="val 8465"/>
            </a:avLst>
          </a:prstGeom>
          <a:solidFill>
            <a:srgbClr val="F4F6FA"/>
          </a:solidFill>
          <a:ln w="6350">
            <a:solidFill>
              <a:srgbClr val="E6EB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39479" y="4267711"/>
            <a:ext cx="3869173" cy="193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39479" y="4498834"/>
            <a:ext cx="3869173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page-object model and coverage layer are app-agnostic — any new module needs only a testdata/xpaths entry, no new framework code.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2800" y="6256026"/>
            <a:ext cx="724439" cy="22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PNC NEXT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 ·  HOW THE SOLUTION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825500"/>
            <a:ext cx="1088339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it work?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466850"/>
            <a:ext cx="1716031" cy="38100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1568450"/>
            <a:ext cx="141123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clicks through pages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30431" y="1550676"/>
            <a:ext cx="2022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3524" y="1466850"/>
            <a:ext cx="1650121" cy="38100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/>
        </p:spPr>
      </p:sp>
      <p:sp>
        <p:nvSpPr>
          <p:cNvPr id="8" name="Text 6"/>
          <p:cNvSpPr/>
          <p:nvPr/>
        </p:nvSpPr>
        <p:spPr>
          <a:xfrm>
            <a:off x="3061324" y="1568450"/>
            <a:ext cx="134532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CoverageEngine plugin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35245" y="1550676"/>
            <a:ext cx="2022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88338" y="1466850"/>
            <a:ext cx="1713763" cy="38100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/>
        </p:spPr>
      </p:sp>
      <p:sp>
        <p:nvSpPr>
          <p:cNvPr id="11" name="Text 9"/>
          <p:cNvSpPr/>
          <p:nvPr/>
        </p:nvSpPr>
        <p:spPr>
          <a:xfrm>
            <a:off x="5066138" y="1568450"/>
            <a:ext cx="140896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scripts sync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03701" y="1550676"/>
            <a:ext cx="202293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56794" y="1466850"/>
            <a:ext cx="2023921" cy="381000"/>
          </a:xfrm>
          <a:prstGeom prst="roundRect">
            <a:avLst>
              <a:gd name="adj" fmla="val 50000"/>
            </a:avLst>
          </a:prstGeom>
          <a:solidFill>
            <a:srgbClr val="F58025"/>
          </a:solidFill>
          <a:ln/>
        </p:spPr>
      </p:sp>
      <p:sp>
        <p:nvSpPr>
          <p:cNvPr id="14" name="Text 12"/>
          <p:cNvSpPr/>
          <p:nvPr/>
        </p:nvSpPr>
        <p:spPr>
          <a:xfrm>
            <a:off x="7134594" y="1568450"/>
            <a:ext cx="171912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+ execution report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2800" y="2051050"/>
            <a:ext cx="6136652" cy="3790950"/>
          </a:xfrm>
          <a:prstGeom prst="roundRect">
            <a:avLst>
              <a:gd name="adj" fmla="val 2680"/>
            </a:avLst>
          </a:prstGeom>
          <a:solidFill>
            <a:srgbClr val="F4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2254250"/>
            <a:ext cx="5902159" cy="20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flow / architecture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19175" y="2541901"/>
            <a:ext cx="5723902" cy="402034"/>
          </a:xfrm>
          <a:prstGeom prst="roundRect">
            <a:avLst>
              <a:gd name="adj" fmla="val 1816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1143" y="2658467"/>
            <a:ext cx="5603165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  Browser launches with CoverageEngine extension loaded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19175" y="3039185"/>
            <a:ext cx="5723902" cy="402034"/>
          </a:xfrm>
          <a:prstGeom prst="roundRect">
            <a:avLst>
              <a:gd name="adj" fmla="val 1816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61143" y="3155752"/>
            <a:ext cx="5603165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  Plugin session starts before test execution begins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19175" y="3536469"/>
            <a:ext cx="5723902" cy="570933"/>
          </a:xfrm>
          <a:prstGeom prst="roundRect">
            <a:avLst>
              <a:gd name="adj" fmla="val 12790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61143" y="3653037"/>
            <a:ext cx="5603165" cy="363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  Reusable Playwright scripts run acceptance-criteria tests, recording module / sub-module / functionality hits into that same session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19175" y="4202652"/>
            <a:ext cx="5723902" cy="402034"/>
          </a:xfrm>
          <a:prstGeom prst="roundRect">
            <a:avLst>
              <a:gd name="adj" fmla="val 1816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61143" y="4319220"/>
            <a:ext cx="5603165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  Plugin session ends after execution completes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16000" y="4696761"/>
            <a:ext cx="5730252" cy="566397"/>
          </a:xfrm>
          <a:prstGeom prst="roundRect">
            <a:avLst>
              <a:gd name="adj" fmla="val 13453"/>
            </a:avLst>
          </a:prstGeom>
          <a:solidFill>
            <a:srgbClr val="0F1B2D"/>
          </a:solidFill>
          <a:ln/>
        </p:spPr>
      </p:sp>
      <p:sp>
        <p:nvSpPr>
          <p:cNvPr id="26" name="Text 24"/>
          <p:cNvSpPr/>
          <p:nvPr/>
        </p:nvSpPr>
        <p:spPr>
          <a:xfrm>
            <a:off x="1155700" y="4811061"/>
            <a:ext cx="5614377" cy="363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  Reporter merges pass/fail results with the coverage gap analysis into one HTML + JSON report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52652" y="2051050"/>
            <a:ext cx="4226549" cy="3790950"/>
          </a:xfrm>
          <a:prstGeom prst="roundRect">
            <a:avLst>
              <a:gd name="adj" fmla="val 2680"/>
            </a:avLst>
          </a:prstGeom>
          <a:solidFill>
            <a:srgbClr val="F4F6FA"/>
          </a:solidFill>
          <a:ln/>
        </p:spPr>
      </p:sp>
      <p:sp>
        <p:nvSpPr>
          <p:cNvPr id="28" name="Text 26"/>
          <p:cNvSpPr/>
          <p:nvPr/>
        </p:nvSpPr>
        <p:spPr>
          <a:xfrm>
            <a:off x="7355852" y="2254250"/>
            <a:ext cx="3934753" cy="20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different about our approach?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08252" y="2538726"/>
            <a:ext cx="3777781" cy="1732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680"/>
              </a:lnSpc>
              <a:buSzPct val="100000"/>
              <a:buChar char="•"/>
            </a:pPr>
            <a:r>
              <a:rPr lang="en-US" sz="10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is measured against a real module inventory, not guessed from test names</a:t>
            </a:r>
            <a:endParaRPr lang="en-US" sz="1050" dirty="0"/>
          </a:p>
          <a:p>
            <a:pPr algn="l" marL="342900" indent="-342900">
              <a:lnSpc>
                <a:spcPts val="1680"/>
              </a:lnSpc>
              <a:buSzPct val="100000"/>
              <a:buChar char="•"/>
            </a:pPr>
            <a:r>
              <a:rPr lang="en-US" sz="10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plugin session lifecycle is locked and fixed — test authors never touch capture logic</a:t>
            </a:r>
            <a:endParaRPr lang="en-US" sz="1050" dirty="0"/>
          </a:p>
          <a:p>
            <a:pPr algn="l" marL="342900" indent="-342900">
              <a:lnSpc>
                <a:spcPts val="1680"/>
              </a:lnSpc>
              <a:buSzPct val="100000"/>
              <a:buChar char="•"/>
            </a:pPr>
            <a:r>
              <a:rPr lang="en-US" sz="10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XPaths and test data are separated from test logic, so new modules need no new framework code</a:t>
            </a:r>
            <a:endParaRPr lang="en-US" sz="1050" dirty="0"/>
          </a:p>
          <a:p>
            <a:pPr algn="l" marL="342900" indent="-342900">
              <a:lnSpc>
                <a:spcPts val="1680"/>
              </a:lnSpc>
              <a:buSzPct val="100000"/>
              <a:buChar char="•"/>
            </a:pPr>
            <a:r>
              <a:rPr lang="en-US" sz="10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manual clicking required once acceptance criteria are automated — the scripts sync with the plugin on their own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12800" y="6256026"/>
            <a:ext cx="724439" cy="22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PNC NEXT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48946"/>
            <a:ext cx="330200" cy="330200"/>
          </a:xfrm>
          <a:prstGeom prst="roundRect">
            <a:avLst>
              <a:gd name="adj" fmla="val 23077"/>
            </a:avLst>
          </a:prstGeom>
          <a:solidFill>
            <a:srgbClr val="F58025"/>
          </a:solidFill>
          <a:ln/>
        </p:spPr>
      </p:sp>
      <p:sp>
        <p:nvSpPr>
          <p:cNvPr id="3" name="Text 1"/>
          <p:cNvSpPr/>
          <p:nvPr/>
        </p:nvSpPr>
        <p:spPr>
          <a:xfrm>
            <a:off x="944506" y="707372"/>
            <a:ext cx="117560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70000" y="609600"/>
            <a:ext cx="3985004" cy="43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CoverageEngine plugin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1221722"/>
            <a:ext cx="915670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browser extension that watches regression testing as it happens — clicking through the application's pages — and shows which modules, sub-modules and actions were reached, and which were not.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2800" y="1920222"/>
            <a:ext cx="5181600" cy="3921777"/>
          </a:xfrm>
          <a:prstGeom prst="roundRect">
            <a:avLst>
              <a:gd name="adj" fmla="val 2591"/>
            </a:avLst>
          </a:prstGeom>
          <a:solidFill>
            <a:srgbClr val="F4F6FA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123422"/>
            <a:ext cx="4918456" cy="20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model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19175" y="2411071"/>
            <a:ext cx="4768850" cy="360136"/>
          </a:xfrm>
          <a:prstGeom prst="roundRect">
            <a:avLst>
              <a:gd name="adj" fmla="val 16751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5743" y="2502240"/>
            <a:ext cx="467178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</a:t>
            </a:r>
            <a:r>
              <a:rPr lang="en-US" sz="1000" b="1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route / page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19175" y="2841058"/>
            <a:ext cx="4768850" cy="360136"/>
          </a:xfrm>
          <a:prstGeom prst="roundRect">
            <a:avLst>
              <a:gd name="adj" fmla="val 16751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5743" y="2932226"/>
            <a:ext cx="467178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Sub-module </a:t>
            </a:r>
            <a:r>
              <a:rPr lang="en-US" sz="1000" b="1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component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19175" y="3271044"/>
            <a:ext cx="4768850" cy="360136"/>
          </a:xfrm>
          <a:prstGeom prst="roundRect">
            <a:avLst>
              <a:gd name="adj" fmla="val 16751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5743" y="3362212"/>
            <a:ext cx="467178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Functionality </a:t>
            </a:r>
            <a:r>
              <a:rPr lang="en-US" sz="1000" b="1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 action / event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16000" y="3735953"/>
            <a:ext cx="4918456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three-level inventory is the "universe" every test-gap report is measured against.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97600" y="1920222"/>
            <a:ext cx="5181600" cy="3921777"/>
          </a:xfrm>
          <a:prstGeom prst="roundRect">
            <a:avLst>
              <a:gd name="adj" fmla="val 2591"/>
            </a:avLst>
          </a:prstGeom>
          <a:solidFill>
            <a:srgbClr val="F4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123422"/>
            <a:ext cx="4918456" cy="20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lifecycle (locked)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40500" y="2407896"/>
            <a:ext cx="4774565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loads into the browser on launch</a:t>
            </a:r>
            <a:endParaRPr lang="en-US" sz="10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starts once, before any test runs</a:t>
            </a:r>
            <a:endParaRPr lang="en-US" sz="10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/ route visit is captured into that session</a:t>
            </a:r>
            <a:endParaRPr lang="en-US" sz="10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stops once, after all tests finish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3347696"/>
            <a:ext cx="4918456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four-step contract is fixed on purpose, so capture behaves identically whether a person is clicking or automation is running.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12800" y="6256026"/>
            <a:ext cx="724439" cy="22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PNC NEXT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48950"/>
            <a:ext cx="330200" cy="330200"/>
          </a:xfrm>
          <a:prstGeom prst="roundRect">
            <a:avLst>
              <a:gd name="adj" fmla="val 23077"/>
            </a:avLst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931778" y="707374"/>
            <a:ext cx="143017" cy="23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70000" y="609600"/>
            <a:ext cx="4927041" cy="43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automation scripts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1221724"/>
            <a:ext cx="948372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test scripts built from finalised acceptance criteria. XPaths, test data and execution logic are kept apart, so the scripts sync with the CoverageEngine plugin automatically — no manual clicking required.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2800" y="1920224"/>
            <a:ext cx="3403600" cy="3921777"/>
          </a:xfrm>
          <a:prstGeom prst="roundRect">
            <a:avLst>
              <a:gd name="adj" fmla="val 2985"/>
            </a:avLst>
          </a:prstGeom>
          <a:solidFill>
            <a:srgbClr val="F4F6FA"/>
          </a:solidFill>
          <a:ln/>
        </p:spPr>
      </p:sp>
      <p:sp>
        <p:nvSpPr>
          <p:cNvPr id="7" name="Text 5"/>
          <p:cNvSpPr/>
          <p:nvPr/>
        </p:nvSpPr>
        <p:spPr>
          <a:xfrm>
            <a:off x="1003300" y="2110724"/>
            <a:ext cx="3113278" cy="20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of concerns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03300" y="2374872"/>
            <a:ext cx="3113278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xpaths.properties</a:t>
            </a: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every locator, by key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3300" y="2594570"/>
            <a:ext cx="3113278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testdata.properties</a:t>
            </a: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every expected value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03300" y="2814272"/>
            <a:ext cx="3113278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BasePage</a:t>
            </a: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every click / fill / assert, logged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3300" y="3033970"/>
            <a:ext cx="3113278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objects</a:t>
            </a: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which keys a page uses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3300" y="3291768"/>
            <a:ext cx="3113278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 module means adding data rows — never new framework code.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94200" y="1920224"/>
            <a:ext cx="3403600" cy="3921777"/>
          </a:xfrm>
          <a:prstGeom prst="roundRect">
            <a:avLst>
              <a:gd name="adj" fmla="val 2985"/>
            </a:avLst>
          </a:prstGeom>
          <a:solidFill>
            <a:srgbClr val="F4F6FA"/>
          </a:solidFill>
          <a:ln/>
        </p:spPr>
      </p:sp>
      <p:sp>
        <p:nvSpPr>
          <p:cNvPr id="14" name="Text 12"/>
          <p:cNvSpPr/>
          <p:nvPr/>
        </p:nvSpPr>
        <p:spPr>
          <a:xfrm>
            <a:off x="4584700" y="2110724"/>
            <a:ext cx="3113278" cy="20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fixture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84700" y="2374872"/>
            <a:ext cx="3113278" cy="399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3"/>
              </a:lnSpc>
              <a:buNone/>
            </a:pP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test automatically gets a </a:t>
            </a:r>
            <a:r>
              <a:rPr lang="en-US" sz="950" b="1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tracker via the shared test fixture — no per-test setup.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84700" y="2837743"/>
            <a:ext cx="3113278" cy="18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captureModule() — route reached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84700" y="3048540"/>
            <a:ext cx="3113278" cy="18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captureSubModule() — component exercised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84700" y="3259336"/>
            <a:ext cx="3113278" cy="18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captureFunctionality() — action / validation performed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84700" y="3508235"/>
            <a:ext cx="3113278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Hits flush into the one active plugin session automatically.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975600" y="1920224"/>
            <a:ext cx="3403600" cy="3921777"/>
          </a:xfrm>
          <a:prstGeom prst="roundRect">
            <a:avLst>
              <a:gd name="adj" fmla="val 2985"/>
            </a:avLst>
          </a:prstGeom>
          <a:solidFill>
            <a:srgbClr val="F4F6FA"/>
          </a:solidFill>
          <a:ln/>
        </p:spPr>
      </p:sp>
      <p:sp>
        <p:nvSpPr>
          <p:cNvPr id="21" name="Text 19"/>
          <p:cNvSpPr/>
          <p:nvPr/>
        </p:nvSpPr>
        <p:spPr>
          <a:xfrm>
            <a:off x="8166100" y="2110724"/>
            <a:ext cx="3113278" cy="20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execution logging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66100" y="2374872"/>
            <a:ext cx="3113278" cy="399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3"/>
              </a:lnSpc>
              <a:buNone/>
            </a:pP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ACTION, VALIDATION, PASS, FAIL, SKIP and RETRY is written to: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166100" y="2837743"/>
            <a:ext cx="3113278" cy="18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console, live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66100" y="3048540"/>
            <a:ext cx="3113278" cy="18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per-test test-steps.log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166100" y="3259336"/>
            <a:ext cx="3113278" cy="18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run-wide execution.log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66100" y="3508235"/>
            <a:ext cx="3113278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run can be replayed top-to-bottom from one file.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2800" y="6256027"/>
            <a:ext cx="724439" cy="22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PNC NEXT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3"/>
            <a:ext cx="1088339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TWO PARTS SYNC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825503"/>
            <a:ext cx="10883393" cy="43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session, shared automatically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412224"/>
            <a:ext cx="2159000" cy="889000"/>
          </a:xfrm>
          <a:prstGeom prst="roundRect">
            <a:avLst>
              <a:gd name="adj" fmla="val 10000"/>
            </a:avLst>
          </a:prstGeom>
          <a:solidFill>
            <a:srgbClr val="0F1B2D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701149"/>
            <a:ext cx="1935988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globalSetup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52500" y="1870047"/>
            <a:ext cx="1935988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C3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Resets logs &amp; starts the plugin session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89350" y="1418574"/>
            <a:ext cx="2146300" cy="876300"/>
          </a:xfrm>
          <a:prstGeom prst="roundRect">
            <a:avLst>
              <a:gd name="adj" fmla="val 9420"/>
            </a:avLst>
          </a:prstGeom>
          <a:solidFill>
            <a:srgbClr val="FFFFFF"/>
          </a:solidFill>
          <a:ln w="12700">
            <a:solidFill>
              <a:srgbClr val="F580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35400" y="1701149"/>
            <a:ext cx="1909826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Chromium launches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35400" y="1870047"/>
            <a:ext cx="1909826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CoverageEngine extension loaded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59550" y="1418574"/>
            <a:ext cx="2146300" cy="876300"/>
          </a:xfrm>
          <a:prstGeom prst="roundRect">
            <a:avLst>
              <a:gd name="adj" fmla="val 9420"/>
            </a:avLst>
          </a:prstGeom>
          <a:solidFill>
            <a:srgbClr val="FFFFFF"/>
          </a:solidFill>
          <a:ln w="12700">
            <a:solidFill>
              <a:srgbClr val="F580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05600" y="1630052"/>
            <a:ext cx="1909826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execute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705600" y="1798951"/>
            <a:ext cx="1909826" cy="309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scripts run acceptance criteria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423401" y="1412224"/>
            <a:ext cx="1955800" cy="889000"/>
          </a:xfrm>
          <a:prstGeom prst="roundRect">
            <a:avLst>
              <a:gd name="adj" fmla="val 10000"/>
            </a:avLst>
          </a:prstGeom>
          <a:solidFill>
            <a:srgbClr val="2B7A78"/>
          </a:solidFill>
          <a:ln/>
        </p:spPr>
      </p:sp>
      <p:sp>
        <p:nvSpPr>
          <p:cNvPr id="14" name="Text 12"/>
          <p:cNvSpPr/>
          <p:nvPr/>
        </p:nvSpPr>
        <p:spPr>
          <a:xfrm>
            <a:off x="9563101" y="1701149"/>
            <a:ext cx="1727200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SessionRecorder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563101" y="1870047"/>
            <a:ext cx="1727200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DCE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every hit per test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429751" y="3323574"/>
            <a:ext cx="1943100" cy="876300"/>
          </a:xfrm>
          <a:prstGeom prst="roundRect">
            <a:avLst>
              <a:gd name="adj" fmla="val 9420"/>
            </a:avLst>
          </a:prstGeom>
          <a:solidFill>
            <a:srgbClr val="FFFFFF"/>
          </a:solidFill>
          <a:ln w="12700">
            <a:solidFill>
              <a:srgbClr val="E3E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75801" y="3606149"/>
            <a:ext cx="1701800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flush()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575801" y="3775047"/>
            <a:ext cx="1701800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sent to CoverageEngine API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553200" y="3317224"/>
            <a:ext cx="2159000" cy="889000"/>
          </a:xfrm>
          <a:prstGeom prst="roundRect">
            <a:avLst>
              <a:gd name="adj" fmla="val 10000"/>
            </a:avLst>
          </a:prstGeom>
          <a:solidFill>
            <a:srgbClr val="0F1B2D"/>
          </a:solidFill>
          <a:ln/>
        </p:spPr>
      </p:sp>
      <p:sp>
        <p:nvSpPr>
          <p:cNvPr id="20" name="Text 18"/>
          <p:cNvSpPr/>
          <p:nvPr/>
        </p:nvSpPr>
        <p:spPr>
          <a:xfrm>
            <a:off x="6692900" y="3606149"/>
            <a:ext cx="1935988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globalTeardown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92900" y="3775047"/>
            <a:ext cx="1935988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C3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Ends the plugin session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83000" y="3317224"/>
            <a:ext cx="2159000" cy="889000"/>
          </a:xfrm>
          <a:prstGeom prst="roundRect">
            <a:avLst>
              <a:gd name="adj" fmla="val 10000"/>
            </a:avLst>
          </a:prstGeom>
          <a:solidFill>
            <a:srgbClr val="F58025"/>
          </a:solidFill>
          <a:ln/>
        </p:spPr>
      </p:sp>
      <p:sp>
        <p:nvSpPr>
          <p:cNvPr id="23" name="Text 21"/>
          <p:cNvSpPr/>
          <p:nvPr/>
        </p:nvSpPr>
        <p:spPr>
          <a:xfrm>
            <a:off x="3822700" y="3606149"/>
            <a:ext cx="1935988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FinalReportReporter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22700" y="3775047"/>
            <a:ext cx="1935988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D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Merges results + gap analysis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19150" y="3323574"/>
            <a:ext cx="2146300" cy="876300"/>
          </a:xfrm>
          <a:prstGeom prst="roundRect">
            <a:avLst>
              <a:gd name="adj" fmla="val 9420"/>
            </a:avLst>
          </a:prstGeom>
          <a:solidFill>
            <a:srgbClr val="FFFFFF"/>
          </a:solidFill>
          <a:ln w="12700">
            <a:solidFill>
              <a:srgbClr val="E3E6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5200" y="3606149"/>
            <a:ext cx="1909826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published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65200" y="3775047"/>
            <a:ext cx="1909826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final-execution-report.html + .json</a:t>
            </a:r>
            <a:endParaRPr lang="en-US" sz="800" dirty="0"/>
          </a:p>
        </p:txBody>
      </p:sp>
      <p:pic>
        <p:nvPicPr>
          <p:cNvPr id="28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1000" y="1805924"/>
            <a:ext cx="812800" cy="101600"/>
          </a:xfrm>
          <a:prstGeom prst="rect">
            <a:avLst/>
          </a:prstGeom>
        </p:spPr>
      </p:pic>
      <p:pic>
        <p:nvPicPr>
          <p:cNvPr id="29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91200" y="1805924"/>
            <a:ext cx="812800" cy="101600"/>
          </a:xfrm>
          <a:prstGeom prst="rect">
            <a:avLst/>
          </a:prstGeom>
        </p:spPr>
      </p:pic>
      <p:pic>
        <p:nvPicPr>
          <p:cNvPr id="30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61400" y="1805924"/>
            <a:ext cx="812800" cy="101600"/>
          </a:xfrm>
          <a:prstGeom prst="rect">
            <a:avLst/>
          </a:prstGeom>
        </p:spPr>
      </p:pic>
      <p:pic>
        <p:nvPicPr>
          <p:cNvPr id="31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350501" y="2250424"/>
            <a:ext cx="101600" cy="1117600"/>
          </a:xfrm>
          <a:prstGeom prst="rect">
            <a:avLst/>
          </a:prstGeom>
        </p:spPr>
      </p:pic>
      <p:pic>
        <p:nvPicPr>
          <p:cNvPr id="32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661400" y="3710924"/>
            <a:ext cx="812800" cy="101600"/>
          </a:xfrm>
          <a:prstGeom prst="rect">
            <a:avLst/>
          </a:prstGeom>
        </p:spPr>
      </p:pic>
      <p:pic>
        <p:nvPicPr>
          <p:cNvPr id="33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791200" y="3710924"/>
            <a:ext cx="812800" cy="101600"/>
          </a:xfrm>
          <a:prstGeom prst="rect">
            <a:avLst/>
          </a:prstGeom>
        </p:spPr>
      </p:pic>
      <p:pic>
        <p:nvPicPr>
          <p:cNvPr id="34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921000" y="3710924"/>
            <a:ext cx="812800" cy="1016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12800" y="6256027"/>
            <a:ext cx="6024443" cy="22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PNC NEXT  ·  The plugin session lifecycle is locked — test authors only use the coverage fixture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825500"/>
            <a:ext cx="10883393" cy="43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report: execution results and coverage gaps together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415396"/>
            <a:ext cx="1659448" cy="879532"/>
          </a:xfrm>
          <a:prstGeom prst="roundRect">
            <a:avLst>
              <a:gd name="adj" fmla="val 9747"/>
            </a:avLst>
          </a:prstGeom>
          <a:solidFill>
            <a:srgbClr val="FFFFFF"/>
          </a:solidFill>
          <a:ln w="6350">
            <a:solidFill>
              <a:srgbClr val="E6EB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7943" y="1557365"/>
            <a:ext cx="1426312" cy="149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TESTS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957943" y="1681814"/>
            <a:ext cx="1426312" cy="363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57943" y="2019610"/>
            <a:ext cx="14263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cases executed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96073" y="1415396"/>
            <a:ext cx="1659476" cy="879532"/>
          </a:xfrm>
          <a:prstGeom prst="roundRect">
            <a:avLst>
              <a:gd name="adj" fmla="val 9747"/>
            </a:avLst>
          </a:prstGeom>
          <a:solidFill>
            <a:srgbClr val="FFFFFF"/>
          </a:solidFill>
          <a:ln w="6350">
            <a:solidFill>
              <a:srgbClr val="E6EB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38041" y="1557365"/>
            <a:ext cx="1426340" cy="149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738041" y="1681814"/>
            <a:ext cx="1426340" cy="363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F9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738041" y="2019610"/>
            <a:ext cx="142634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 pass rate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376199" y="1415396"/>
            <a:ext cx="1659476" cy="879532"/>
          </a:xfrm>
          <a:prstGeom prst="roundRect">
            <a:avLst>
              <a:gd name="adj" fmla="val 9747"/>
            </a:avLst>
          </a:prstGeom>
          <a:solidFill>
            <a:srgbClr val="FFFFFF"/>
          </a:solidFill>
          <a:ln w="6350">
            <a:solidFill>
              <a:srgbClr val="E6EB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8167" y="1557365"/>
            <a:ext cx="1426340" cy="149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18167" y="1681814"/>
            <a:ext cx="1426340" cy="363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18167" y="2019610"/>
            <a:ext cx="142634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156325" y="1415396"/>
            <a:ext cx="1659448" cy="879532"/>
          </a:xfrm>
          <a:prstGeom prst="roundRect">
            <a:avLst>
              <a:gd name="adj" fmla="val 9747"/>
            </a:avLst>
          </a:prstGeom>
          <a:solidFill>
            <a:srgbClr val="FFFFFF"/>
          </a:solidFill>
          <a:ln w="6350">
            <a:solidFill>
              <a:srgbClr val="E6EB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8293" y="1557365"/>
            <a:ext cx="1426312" cy="149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298293" y="1681814"/>
            <a:ext cx="1426312" cy="363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C98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298293" y="2019610"/>
            <a:ext cx="14263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executed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936423" y="1415396"/>
            <a:ext cx="1659476" cy="879532"/>
          </a:xfrm>
          <a:prstGeom prst="roundRect">
            <a:avLst>
              <a:gd name="adj" fmla="val 9747"/>
            </a:avLst>
          </a:prstGeom>
          <a:solidFill>
            <a:srgbClr val="FFFFFF"/>
          </a:solidFill>
          <a:ln w="6350">
            <a:solidFill>
              <a:srgbClr val="E6EB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78391" y="1557365"/>
            <a:ext cx="1426340" cy="149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078391" y="1681814"/>
            <a:ext cx="1426340" cy="363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078391" y="2019610"/>
            <a:ext cx="142634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inventory nodes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716550" y="1415396"/>
            <a:ext cx="1659476" cy="879532"/>
          </a:xfrm>
          <a:prstGeom prst="roundRect">
            <a:avLst>
              <a:gd name="adj" fmla="val 9747"/>
            </a:avLst>
          </a:prstGeom>
          <a:solidFill>
            <a:srgbClr val="FFFFFF"/>
          </a:solidFill>
          <a:ln w="6350">
            <a:solidFill>
              <a:srgbClr val="E6EB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58517" y="1557365"/>
            <a:ext cx="1426340" cy="149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GAP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9858517" y="1681814"/>
            <a:ext cx="1426340" cy="363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858517" y="2019610"/>
            <a:ext cx="142634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untouched nodes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15975" y="2479080"/>
            <a:ext cx="5200650" cy="3359745"/>
          </a:xfrm>
          <a:prstGeom prst="roundRect">
            <a:avLst>
              <a:gd name="adj" fmla="val 2930"/>
            </a:avLst>
          </a:prstGeom>
          <a:solidFill>
            <a:srgbClr val="FFFFFF"/>
          </a:solidFill>
          <a:ln w="6350">
            <a:solidFill>
              <a:srgbClr val="E6EB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1443" y="2684546"/>
            <a:ext cx="4933406" cy="193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outcome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21443" y="2966470"/>
            <a:ext cx="1130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89843" y="3004570"/>
            <a:ext cx="3087914" cy="101600"/>
          </a:xfrm>
          <a:prstGeom prst="roundRect">
            <a:avLst>
              <a:gd name="adj" fmla="val 50000"/>
            </a:avLst>
          </a:prstGeom>
          <a:solidFill>
            <a:srgbClr val="E6EBF1"/>
          </a:solidFill>
          <a:ln/>
        </p:spPr>
      </p:sp>
      <p:sp>
        <p:nvSpPr>
          <p:cNvPr id="32" name="Shape 30"/>
          <p:cNvSpPr/>
          <p:nvPr/>
        </p:nvSpPr>
        <p:spPr>
          <a:xfrm>
            <a:off x="2189843" y="3004570"/>
            <a:ext cx="3087914" cy="10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5315857" y="2975372"/>
            <a:ext cx="495300" cy="18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1443" y="3258570"/>
            <a:ext cx="1130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Sub-modules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89843" y="3296670"/>
            <a:ext cx="3087914" cy="101600"/>
          </a:xfrm>
          <a:prstGeom prst="roundRect">
            <a:avLst>
              <a:gd name="adj" fmla="val 50000"/>
            </a:avLst>
          </a:prstGeom>
          <a:solidFill>
            <a:srgbClr val="E6EBF1"/>
          </a:solidFill>
          <a:ln/>
        </p:spPr>
      </p:sp>
      <p:sp>
        <p:nvSpPr>
          <p:cNvPr id="36" name="Shape 34"/>
          <p:cNvSpPr/>
          <p:nvPr/>
        </p:nvSpPr>
        <p:spPr>
          <a:xfrm>
            <a:off x="2189843" y="3296670"/>
            <a:ext cx="3087914" cy="10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5315857" y="3267472"/>
            <a:ext cx="495300" cy="18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25/30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21443" y="3550670"/>
            <a:ext cx="1130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Functionality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189843" y="3588770"/>
            <a:ext cx="3087914" cy="101600"/>
          </a:xfrm>
          <a:prstGeom prst="roundRect">
            <a:avLst>
              <a:gd name="adj" fmla="val 50000"/>
            </a:avLst>
          </a:prstGeom>
          <a:solidFill>
            <a:srgbClr val="E6EBF1"/>
          </a:solidFill>
          <a:ln/>
        </p:spPr>
      </p:sp>
      <p:sp>
        <p:nvSpPr>
          <p:cNvPr id="40" name="Shape 38"/>
          <p:cNvSpPr/>
          <p:nvPr/>
        </p:nvSpPr>
        <p:spPr>
          <a:xfrm>
            <a:off x="2189843" y="3588770"/>
            <a:ext cx="3087914" cy="10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5315857" y="3559572"/>
            <a:ext cx="495300" cy="18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57/80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75375" y="2479080"/>
            <a:ext cx="5200650" cy="3359745"/>
          </a:xfrm>
          <a:prstGeom prst="roundRect">
            <a:avLst>
              <a:gd name="adj" fmla="val 2930"/>
            </a:avLst>
          </a:prstGeom>
          <a:solidFill>
            <a:srgbClr val="FFFFFF"/>
          </a:solidFill>
          <a:ln w="6350">
            <a:solidFill>
              <a:srgbClr val="E6EB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0843" y="2684546"/>
            <a:ext cx="4933406" cy="193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includes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20543" y="2941070"/>
            <a:ext cx="4789515" cy="1073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test-case status, duration, retries and error text</a:t>
            </a:r>
            <a:endParaRPr lang="en-US" sz="10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pass % and coverage % against the CoverageEngine inventory</a:t>
            </a:r>
            <a:endParaRPr lang="en-US" sz="10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Untouched modules, sub-modules and functionality — the gap list</a:t>
            </a:r>
            <a:endParaRPr lang="en-US" sz="10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Exported as one self-contained HTML page, and JSON, and convertible to PDF for sharing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12800" y="6256024"/>
            <a:ext cx="3974843" cy="22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PNC NEXT  ·  Figures shown are illustrative of the report layout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 ·  VALUE &amp; PATH TO REALITY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825500"/>
            <a:ext cx="1088339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466850"/>
            <a:ext cx="6214524" cy="3594129"/>
          </a:xfrm>
          <a:prstGeom prst="roundRect">
            <a:avLst>
              <a:gd name="adj" fmla="val 2827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670050"/>
            <a:ext cx="5982368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16000" y="1913871"/>
            <a:ext cx="5982368" cy="1000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gaps that used to be discovered in production are now visible before release. QA no longer has to manually click through every page to prove regression coverage — automation checks every page on every run and reports exactly what was and wasn't exercised, in a format leadership can open and trust.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30525" y="1466850"/>
            <a:ext cx="4148676" cy="1091548"/>
          </a:xfrm>
          <a:prstGeom prst="roundRect">
            <a:avLst>
              <a:gd name="adj" fmla="val 9308"/>
            </a:avLst>
          </a:prstGeom>
          <a:solidFill>
            <a:srgbClr val="F4F6FA"/>
          </a:solidFill>
          <a:ln/>
        </p:spPr>
      </p:sp>
      <p:sp>
        <p:nvSpPr>
          <p:cNvPr id="8" name="Text 6"/>
          <p:cNvSpPr/>
          <p:nvPr/>
        </p:nvSpPr>
        <p:spPr>
          <a:xfrm>
            <a:off x="7395625" y="1631950"/>
            <a:ext cx="3933031" cy="193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&amp; demonstrated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95625" y="1850371"/>
            <a:ext cx="3933031" cy="568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plugin session lifecycle, the reusable Playwright page-object framework, the coverage/gap analysis engine, and the combined HTML + JSON reporter are all implemented and working end to end.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230525" y="2659996"/>
            <a:ext cx="4148676" cy="910573"/>
          </a:xfrm>
          <a:prstGeom prst="roundRect">
            <a:avLst>
              <a:gd name="adj" fmla="val 11158"/>
            </a:avLst>
          </a:prstGeom>
          <a:solidFill>
            <a:srgbClr val="F4F6FA"/>
          </a:solidFill>
          <a:ln/>
        </p:spPr>
      </p:sp>
      <p:sp>
        <p:nvSpPr>
          <p:cNvPr id="11" name="Text 9"/>
          <p:cNvSpPr/>
          <p:nvPr/>
        </p:nvSpPr>
        <p:spPr>
          <a:xfrm>
            <a:off x="7395625" y="2825096"/>
            <a:ext cx="3933031" cy="193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Described, not yet built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95625" y="3043520"/>
            <a:ext cx="3933031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4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unattended runs, a PDF export step off the HTML report, and expanding the module inventory to cover every banking module.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12800" y="5264178"/>
            <a:ext cx="10883393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 WITH WHICHEVER MEASURES APPLY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12800" y="5495302"/>
            <a:ext cx="916753" cy="346699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" y="5584202"/>
            <a:ext cx="662753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18453" y="5495302"/>
            <a:ext cx="1058267" cy="346699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/>
        </p:spPr>
      </p:sp>
      <p:sp>
        <p:nvSpPr>
          <p:cNvPr id="17" name="Text 15"/>
          <p:cNvSpPr/>
          <p:nvPr/>
        </p:nvSpPr>
        <p:spPr>
          <a:xfrm>
            <a:off x="1970853" y="5584202"/>
            <a:ext cx="804267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reduction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65620" y="5495302"/>
            <a:ext cx="1410437" cy="346699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/>
        </p:spPr>
      </p:sp>
      <p:sp>
        <p:nvSpPr>
          <p:cNvPr id="19" name="Text 17"/>
          <p:cNvSpPr/>
          <p:nvPr/>
        </p:nvSpPr>
        <p:spPr>
          <a:xfrm>
            <a:off x="3118020" y="5584202"/>
            <a:ext cx="1156437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improvement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64957" y="5495302"/>
            <a:ext cx="1375455" cy="346699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357" y="5584202"/>
            <a:ext cx="1121455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velocity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29313" y="5495302"/>
            <a:ext cx="1006872" cy="346699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/>
        </p:spPr>
      </p:sp>
      <p:sp>
        <p:nvSpPr>
          <p:cNvPr id="23" name="Text 21"/>
          <p:cNvSpPr/>
          <p:nvPr/>
        </p:nvSpPr>
        <p:spPr>
          <a:xfrm>
            <a:off x="6081713" y="5584202"/>
            <a:ext cx="752872" cy="19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avoided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12800" y="6256024"/>
            <a:ext cx="724439" cy="22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PNC NEXT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42182"/>
            <a:ext cx="8829675" cy="1076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automated run now checks every page — and proves 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3347727"/>
            <a:ext cx="7848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3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CoverageEngine plugin + reusable Playwright scripts, synced automatically, producing one shareable coverage and execution report.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4135127"/>
            <a:ext cx="44781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PNC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22517" y="4135127"/>
            <a:ext cx="55602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i="1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4655827"/>
            <a:ext cx="10883393" cy="18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spc="100" kern="0" dirty="0">
                <a:solidFill>
                  <a:srgbClr val="7D8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IGNITING MINDS. A(G)CCELERATING IDEAS.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spc="10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THEME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2800" y="825500"/>
            <a:ext cx="1088339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Theme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492250"/>
            <a:ext cx="4091356" cy="2772455"/>
          </a:xfrm>
          <a:prstGeom prst="roundRect">
            <a:avLst>
              <a:gd name="adj" fmla="val 3665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1720850"/>
            <a:ext cx="3743181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41400" y="1951974"/>
            <a:ext cx="3743181" cy="327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Reimagined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107356" y="1492250"/>
            <a:ext cx="6271844" cy="2772455"/>
          </a:xfrm>
          <a:prstGeom prst="roundRect">
            <a:avLst>
              <a:gd name="adj" fmla="val 3665"/>
            </a:avLst>
          </a:prstGeom>
          <a:solidFill>
            <a:srgbClr val="F4F6FA"/>
          </a:solidFill>
          <a:ln/>
        </p:spPr>
      </p:sp>
      <p:sp>
        <p:nvSpPr>
          <p:cNvPr id="8" name="Text 6"/>
          <p:cNvSpPr/>
          <p:nvPr/>
        </p:nvSpPr>
        <p:spPr>
          <a:xfrm>
            <a:off x="5335956" y="1720850"/>
            <a:ext cx="5989084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50" kern="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UNDERLYING BUSINESS PROBLEM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335956" y="1951974"/>
            <a:ext cx="59890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lack visibility into productivity leakage.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800" y="4493307"/>
            <a:ext cx="10566401" cy="1348695"/>
          </a:xfrm>
          <a:prstGeom prst="roundRect">
            <a:avLst>
              <a:gd name="adj" fmla="val 7533"/>
            </a:avLst>
          </a:prstGeom>
          <a:solidFill>
            <a:srgbClr val="0F1B2D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4747307"/>
            <a:ext cx="10360153" cy="16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spc="50" kern="0" dirty="0">
                <a:solidFill>
                  <a:srgbClr val="F58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PROBLEM STATEMENT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66800" y="4978431"/>
            <a:ext cx="10360153" cy="309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Hidden Productivity Drain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6800" y="5351804"/>
            <a:ext cx="10360153" cy="261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3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might we uncover and eliminate the largest sources of productivity leakage across workflows and teams?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6256027"/>
            <a:ext cx="6234936" cy="22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CoverageEngine targets this leakage directly: manual, repeated page-by-page regression checking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CoverageEngine — Automation Test Coverage Reporting</dc:title>
  <dc:subject>PptxGenJS Presentation</dc:subject>
  <dc:creator>PptxGenJS</dc:creator>
  <cp:lastModifiedBy>PptxGenJS</cp:lastModifiedBy>
  <cp:revision>1</cp:revision>
  <dcterms:created xsi:type="dcterms:W3CDTF">2026-09-19T05:37:38Z</dcterms:created>
  <dcterms:modified xsi:type="dcterms:W3CDTF">2026-09-19T05:37:38Z</dcterms:modified>
</cp:coreProperties>
</file>