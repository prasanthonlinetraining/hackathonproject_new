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CE76B"/>
          </a:solidFill>
          <a:ln w="12700">
            <a:solidFill>
              <a:srgbClr val="BCE76B"/>
            </a:solidFill>
            <a:prstDash val="solid"/>
          </a:ln>
        </p:spPr>
      </p:sp>
      <p:sp>
        <p:nvSpPr>
          <p:cNvPr id="3" name="Text 1"/>
          <p:cNvSpPr/>
          <p:nvPr/>
        </p:nvSpPr>
        <p:spPr>
          <a:xfrm>
            <a:off x="502920" y="6492240"/>
            <a:ext cx="5120640" cy="164592"/>
          </a:xfrm>
          <a:prstGeom prst="rect">
            <a:avLst/>
          </a:prstGeom>
          <a:noFill/>
          <a:ln/>
        </p:spPr>
        <p:txBody>
          <a:bodyPr wrap="square" lIns="0" tIns="0" rIns="0" bIns="0" rtlCol="0" anchor="ctr"/>
          <a:lstStyle/>
          <a:p>
            <a:pPr indent="0" marL="0">
              <a:buNone/>
            </a:pPr>
            <a:r>
              <a:rPr lang="en-US" sz="700" spc="120" kern="0" dirty="0">
                <a:solidFill>
                  <a:srgbClr val="718080"/>
                </a:solidFill>
                <a:latin typeface="Aptos" pitchFamily="34" charset="0"/>
                <a:ea typeface="Aptos" pitchFamily="34" charset="-122"/>
                <a:cs typeface="Aptos" pitchFamily="34" charset="-120"/>
              </a:rPr>
              <a:t>PNC BANK  /  QUALITY ENGINEERING</a:t>
            </a:r>
            <a:endParaRPr lang="en-US" sz="700" dirty="0"/>
          </a:p>
        </p:txBody>
      </p:sp>
      <p:sp>
        <p:nvSpPr>
          <p:cNvPr id="4" name="Text 2"/>
          <p:cNvSpPr/>
          <p:nvPr/>
        </p:nvSpPr>
        <p:spPr>
          <a:xfrm>
            <a:off x="11201400" y="6492240"/>
            <a:ext cx="502920" cy="164592"/>
          </a:xfrm>
          <a:prstGeom prst="rect">
            <a:avLst/>
          </a:prstGeom>
          <a:noFill/>
          <a:ln/>
        </p:spPr>
        <p:txBody>
          <a:bodyPr wrap="square" lIns="0" tIns="0" rIns="0" bIns="0" rtlCol="0" anchor="ctr"/>
          <a:lstStyle/>
          <a:p>
            <a:pPr algn="r" indent="0" marL="0">
              <a:buNone/>
            </a:pPr>
            <a:r>
              <a:rPr lang="en-US" sz="700" dirty="0">
                <a:solidFill>
                  <a:srgbClr val="718080"/>
                </a:solidFill>
                <a:latin typeface="Aptos" pitchFamily="34" charset="0"/>
                <a:ea typeface="Aptos" pitchFamily="34" charset="-122"/>
                <a:cs typeface="Aptos" pitchFamily="34" charset="-120"/>
              </a:rPr>
              <a:t>2026</a:t>
            </a:r>
            <a:endParaRPr lang="en-US" sz="7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8"/>
        </a:solidFill>
      </p:bgPr>
    </p:bg>
    <p:spTree>
      <p:nvGrpSpPr>
        <p:cNvPr id="1" name=""/>
        <p:cNvGrpSpPr/>
        <p:nvPr/>
      </p:nvGrpSpPr>
      <p:grpSpPr>
        <a:xfrm>
          <a:off x="0" y="0"/>
          <a:ext cx="0" cy="0"/>
          <a:chOff x="0" y="0"/>
          <a:chExt cx="0" cy="0"/>
        </a:xfrm>
      </p:grpSpPr>
      <p:sp>
        <p:nvSpPr>
          <p:cNvPr id="2" name="Shape 0"/>
          <p:cNvSpPr/>
          <p:nvPr/>
        </p:nvSpPr>
        <p:spPr>
          <a:xfrm>
            <a:off x="7818120" y="1143000"/>
            <a:ext cx="4480560" cy="4480560"/>
          </a:xfrm>
          <a:prstGeom prst="arc">
            <a:avLst/>
          </a:prstGeom>
          <a:noFill/>
          <a:ln w="15875">
            <a:solidFill>
              <a:srgbClr val="DCE4E0">
                <a:alpha val="58000"/>
              </a:srgbClr>
            </a:solidFill>
            <a:prstDash val="solid"/>
          </a:ln>
        </p:spPr>
      </p:sp>
      <p:sp>
        <p:nvSpPr>
          <p:cNvPr id="3" name="Shape 1"/>
          <p:cNvSpPr/>
          <p:nvPr/>
        </p:nvSpPr>
        <p:spPr>
          <a:xfrm>
            <a:off x="8549640" y="1874520"/>
            <a:ext cx="3017520" cy="3017520"/>
          </a:xfrm>
          <a:prstGeom prst="arc">
            <a:avLst/>
          </a:prstGeom>
          <a:noFill/>
          <a:ln w="15875">
            <a:solidFill>
              <a:srgbClr val="DCE4E0">
                <a:alpha val="58000"/>
              </a:srgbClr>
            </a:solidFill>
            <a:prstDash val="solid"/>
          </a:ln>
        </p:spPr>
      </p:sp>
      <p:sp>
        <p:nvSpPr>
          <p:cNvPr id="4" name="Text 2"/>
          <p:cNvSpPr/>
          <p:nvPr/>
        </p:nvSpPr>
        <p:spPr>
          <a:xfrm>
            <a:off x="621792" y="2423160"/>
            <a:ext cx="6217920" cy="292608"/>
          </a:xfrm>
          <a:prstGeom prst="rect">
            <a:avLst/>
          </a:prstGeom>
          <a:noFill/>
          <a:ln/>
        </p:spPr>
        <p:txBody>
          <a:bodyPr wrap="square" lIns="0" tIns="0" rIns="0" bIns="0" rtlCol="0" anchor="ctr"/>
          <a:lstStyle/>
          <a:p>
            <a:pPr indent="0" marL="0">
              <a:buNone/>
            </a:pPr>
            <a:r>
              <a:rPr lang="en-US" sz="1500" b="1" dirty="0">
                <a:solidFill>
                  <a:srgbClr val="103332"/>
                </a:solidFill>
              </a:rPr>
              <a:t>Optimize Repetitive Tasks and Improve Productivity</a:t>
            </a:r>
            <a:endParaRPr lang="en-US" sz="1500" dirty="0"/>
          </a:p>
        </p:txBody>
      </p:sp>
      <p:sp>
        <p:nvSpPr>
          <p:cNvPr id="5" name="Text 3"/>
          <p:cNvSpPr/>
          <p:nvPr/>
        </p:nvSpPr>
        <p:spPr>
          <a:xfrm>
            <a:off x="621792" y="2944368"/>
            <a:ext cx="6172200" cy="914400"/>
          </a:xfrm>
          <a:prstGeom prst="rect">
            <a:avLst/>
          </a:prstGeom>
          <a:noFill/>
          <a:ln/>
        </p:spPr>
        <p:txBody>
          <a:bodyPr wrap="square" lIns="0" tIns="0" rIns="0" bIns="0" rtlCol="0" anchor="ctr"/>
          <a:lstStyle/>
          <a:p>
            <a:pPr indent="0" marL="0">
              <a:buNone/>
            </a:pPr>
            <a:r>
              <a:rPr lang="en-US" sz="1300" dirty="0">
                <a:solidFill>
                  <a:srgbClr val="718080"/>
                </a:solidFill>
              </a:rPr>
              <a:t>Regression pass/fail results do not reveal what functionality was tested, what was missed, or the risk that remains. Brittle automation assets and interrupted execution sessions also increase the cost of reliable validation.</a:t>
            </a:r>
            <a:endParaRPr lang="en-US" sz="1300" dirty="0"/>
          </a:p>
        </p:txBody>
      </p:sp>
      <p:sp>
        <p:nvSpPr>
          <p:cNvPr id="6" name="Shape 4"/>
          <p:cNvSpPr/>
          <p:nvPr/>
        </p:nvSpPr>
        <p:spPr>
          <a:xfrm>
            <a:off x="7315200" y="987552"/>
            <a:ext cx="3429000" cy="1920240"/>
          </a:xfrm>
          <a:prstGeom prst="roundRect">
            <a:avLst>
              <a:gd name="adj" fmla="val 1905"/>
            </a:avLst>
          </a:prstGeom>
          <a:solidFill>
            <a:srgbClr val="FFFFFF">
              <a:alpha val="92000"/>
            </a:srgbClr>
          </a:solidFill>
          <a:ln w="10160">
            <a:solidFill>
              <a:srgbClr val="D9E0DD"/>
            </a:solidFill>
            <a:prstDash val="solid"/>
          </a:ln>
        </p:spPr>
      </p:sp>
      <p:sp>
        <p:nvSpPr>
          <p:cNvPr id="7" name="Text 5"/>
          <p:cNvSpPr/>
          <p:nvPr/>
        </p:nvSpPr>
        <p:spPr>
          <a:xfrm>
            <a:off x="7635240" y="1325880"/>
            <a:ext cx="2788920" cy="274320"/>
          </a:xfrm>
          <a:prstGeom prst="rect">
            <a:avLst/>
          </a:prstGeom>
          <a:noFill/>
          <a:ln/>
        </p:spPr>
        <p:txBody>
          <a:bodyPr wrap="square" lIns="0" tIns="0" rIns="0" bIns="0" rtlCol="0" anchor="ctr"/>
          <a:lstStyle/>
          <a:p>
            <a:pPr indent="0" marL="0">
              <a:buNone/>
            </a:pPr>
            <a:r>
              <a:rPr lang="en-US" sz="1700" b="1" dirty="0">
                <a:solidFill>
                  <a:srgbClr val="172327"/>
                </a:solidFill>
              </a:rPr>
              <a:t>Beyond The Workflow</a:t>
            </a:r>
            <a:endParaRPr lang="en-US" sz="1700" dirty="0"/>
          </a:p>
        </p:txBody>
      </p:sp>
      <p:sp>
        <p:nvSpPr>
          <p:cNvPr id="8" name="Text 6"/>
          <p:cNvSpPr/>
          <p:nvPr/>
        </p:nvSpPr>
        <p:spPr>
          <a:xfrm>
            <a:off x="7635240" y="1901952"/>
            <a:ext cx="2743200" cy="621792"/>
          </a:xfrm>
          <a:prstGeom prst="rect">
            <a:avLst/>
          </a:prstGeom>
          <a:noFill/>
          <a:ln/>
        </p:spPr>
        <p:txBody>
          <a:bodyPr wrap="square" lIns="0" tIns="0" rIns="0" bIns="0" rtlCol="0" anchor="ctr"/>
          <a:lstStyle/>
          <a:p>
            <a:pPr indent="0" marL="0">
              <a:buNone/>
            </a:pPr>
            <a:r>
              <a:rPr lang="en-US" sz="1000" dirty="0">
                <a:solidFill>
                  <a:srgbClr val="172327"/>
                </a:solidFill>
              </a:rPr>
              <a:t>Sunil Kumar Ajmeera</a:t>
            </a:r>
            <a:endParaRPr lang="en-US" sz="1000" dirty="0"/>
          </a:p>
          <a:p>
            <a:pPr indent="0" marL="0">
              <a:buNone/>
            </a:pPr>
            <a:r>
              <a:rPr lang="en-US" sz="1000" dirty="0">
                <a:solidFill>
                  <a:srgbClr val="172327"/>
                </a:solidFill>
              </a:rPr>
              <a:t>Lakshmansamvith Dunna</a:t>
            </a:r>
            <a:endParaRPr lang="en-US" sz="1000" dirty="0"/>
          </a:p>
          <a:p>
            <a:pPr indent="0" marL="0">
              <a:buNone/>
            </a:pPr>
            <a:r>
              <a:rPr lang="en-US" sz="1000" dirty="0">
                <a:solidFill>
                  <a:srgbClr val="172327"/>
                </a:solidFill>
              </a:rPr>
              <a:t>Prasanth Varipireddi</a:t>
            </a:r>
            <a:endParaRPr lang="en-US" sz="1000" dirty="0"/>
          </a:p>
        </p:txBody>
      </p:sp>
      <p:sp>
        <p:nvSpPr>
          <p:cNvPr id="9" name="Text 7"/>
          <p:cNvSpPr/>
          <p:nvPr/>
        </p:nvSpPr>
        <p:spPr>
          <a:xfrm>
            <a:off x="621792" y="4892040"/>
            <a:ext cx="1783080" cy="502920"/>
          </a:xfrm>
          <a:prstGeom prst="rect">
            <a:avLst/>
          </a:prstGeom>
          <a:noFill/>
          <a:ln/>
        </p:spPr>
        <p:txBody>
          <a:bodyPr wrap="square" lIns="0" tIns="0" rIns="0" bIns="0" rtlCol="0" anchor="ctr"/>
          <a:lstStyle/>
          <a:p>
            <a:pPr indent="0" marL="0">
              <a:buNone/>
            </a:pPr>
            <a:r>
              <a:rPr lang="en-US" sz="3900" dirty="0">
                <a:solidFill>
                  <a:srgbClr val="121A21"/>
                </a:solidFill>
                <a:latin typeface="Aptos Display" pitchFamily="34" charset="0"/>
                <a:ea typeface="Aptos Display" pitchFamily="34" charset="-122"/>
                <a:cs typeface="Aptos Display" pitchFamily="34" charset="-120"/>
              </a:rPr>
              <a:t>PNC</a:t>
            </a:r>
            <a:endParaRPr lang="en-US" sz="3900" dirty="0"/>
          </a:p>
        </p:txBody>
      </p:sp>
      <p:sp>
        <p:nvSpPr>
          <p:cNvPr id="10" name="Text 8"/>
          <p:cNvSpPr/>
          <p:nvPr/>
        </p:nvSpPr>
        <p:spPr>
          <a:xfrm>
            <a:off x="2432304" y="4892040"/>
            <a:ext cx="2743200" cy="502920"/>
          </a:xfrm>
          <a:prstGeom prst="rect">
            <a:avLst/>
          </a:prstGeom>
          <a:noFill/>
          <a:ln/>
        </p:spPr>
        <p:txBody>
          <a:bodyPr wrap="square" lIns="0" tIns="0" rIns="0" bIns="0" rtlCol="0" anchor="ctr"/>
          <a:lstStyle/>
          <a:p>
            <a:pPr indent="0" marL="0">
              <a:buNone/>
            </a:pPr>
            <a:r>
              <a:rPr lang="en-US" sz="3900" b="1" i="1" dirty="0">
                <a:solidFill>
                  <a:srgbClr val="17234A"/>
                </a:solidFill>
                <a:latin typeface="Aptos Display" pitchFamily="34" charset="0"/>
                <a:ea typeface="Aptos Display" pitchFamily="34" charset="-122"/>
                <a:cs typeface="Aptos Display" pitchFamily="34" charset="-120"/>
              </a:rPr>
              <a:t>NEXT</a:t>
            </a:r>
            <a:endParaRPr lang="en-US" sz="3900" dirty="0"/>
          </a:p>
        </p:txBody>
      </p:sp>
      <p:sp>
        <p:nvSpPr>
          <p:cNvPr id="11" name="Text 9"/>
          <p:cNvSpPr/>
          <p:nvPr/>
        </p:nvSpPr>
        <p:spPr>
          <a:xfrm>
            <a:off x="960120" y="5559552"/>
            <a:ext cx="4206240" cy="164592"/>
          </a:xfrm>
          <a:prstGeom prst="rect">
            <a:avLst/>
          </a:prstGeom>
          <a:noFill/>
          <a:ln/>
        </p:spPr>
        <p:txBody>
          <a:bodyPr wrap="square" lIns="0" tIns="0" rIns="0" bIns="0" rtlCol="0" anchor="ctr"/>
          <a:lstStyle/>
          <a:p>
            <a:pPr indent="0" marL="0">
              <a:buNone/>
            </a:pPr>
            <a:r>
              <a:rPr lang="en-US" sz="800" b="1" spc="210" kern="0" dirty="0">
                <a:solidFill>
                  <a:srgbClr val="303940"/>
                </a:solidFill>
              </a:rPr>
              <a:t>IGNITING MINDS. ACCELERATING IDEAS.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01 / CONTEXT</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The problem is bigger than pass or fail</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Regression teams need a measurable view of what was actually tested.</a:t>
            </a:r>
            <a:endParaRPr lang="en-US" sz="1200" dirty="0"/>
          </a:p>
        </p:txBody>
      </p:sp>
      <p:sp>
        <p:nvSpPr>
          <p:cNvPr id="5" name="Text 3"/>
          <p:cNvSpPr/>
          <p:nvPr/>
        </p:nvSpPr>
        <p:spPr>
          <a:xfrm>
            <a:off x="822960" y="1965960"/>
            <a:ext cx="5669280" cy="3474720"/>
          </a:xfrm>
          <a:prstGeom prst="rect">
            <a:avLst/>
          </a:prstGeom>
          <a:noFill/>
          <a:ln/>
        </p:spPr>
        <p:txBody>
          <a:bodyPr wrap="square" lIns="254" tIns="254" rIns="254" bIns="254" rtlCol="0" anchor="ctr"/>
          <a:lstStyle/>
          <a:p>
            <a:pPr marL="215900" indent="-215900">
              <a:buSzPct val="100000"/>
              <a:buChar char="•"/>
            </a:pPr>
            <a:r>
              <a:rPr lang="en-US" sz="1700" dirty="0">
                <a:solidFill>
                  <a:srgbClr val="172327"/>
                </a:solidFill>
              </a:rPr>
              <a:t>Manual journeys can miss modules and scenarios.</a:t>
            </a:r>
            <a:endParaRPr lang="en-US" sz="1700" dirty="0"/>
          </a:p>
          <a:p>
            <a:pPr marL="215900" indent="-215900">
              <a:buSzPct val="100000"/>
              <a:buChar char="•"/>
            </a:pPr>
            <a:r>
              <a:rPr lang="en-US" sz="1700" dirty="0">
                <a:solidFill>
                  <a:srgbClr val="172327"/>
                </a:solidFill>
              </a:rPr>
              <a:t>Hardcoded data and locators increase maintenance effort.</a:t>
            </a:r>
            <a:endParaRPr lang="en-US" sz="1700" dirty="0"/>
          </a:p>
          <a:p>
            <a:pPr marL="215900" indent="-215900">
              <a:buSzPct val="100000"/>
              <a:buChar char="•"/>
            </a:pPr>
            <a:r>
              <a:rPr lang="en-US" sz="1700" dirty="0">
                <a:solidFill>
                  <a:srgbClr val="172327"/>
                </a:solidFill>
              </a:rPr>
              <a:t>Interrupted sessions lose the last known execution state.</a:t>
            </a:r>
            <a:endParaRPr lang="en-US" sz="1700" dirty="0"/>
          </a:p>
          <a:p>
            <a:pPr marL="215900" indent="-215900">
              <a:buSzPct val="100000"/>
              <a:buChar char="•"/>
            </a:pPr>
            <a:r>
              <a:rPr lang="en-US" sz="1700" dirty="0">
                <a:solidFill>
                  <a:srgbClr val="172327"/>
                </a:solidFill>
              </a:rPr>
              <a:t>A passing test can still hide a meaningful coverage gap.</a:t>
            </a:r>
            <a:endParaRPr lang="en-US" sz="1700" dirty="0"/>
          </a:p>
        </p:txBody>
      </p:sp>
      <p:sp>
        <p:nvSpPr>
          <p:cNvPr id="6" name="Shape 4"/>
          <p:cNvSpPr/>
          <p:nvPr/>
        </p:nvSpPr>
        <p:spPr>
          <a:xfrm>
            <a:off x="7452360" y="2057400"/>
            <a:ext cx="3886200" cy="2468880"/>
          </a:xfrm>
          <a:prstGeom prst="roundRect">
            <a:avLst>
              <a:gd name="adj" fmla="val 1852"/>
            </a:avLst>
          </a:prstGeom>
          <a:solidFill>
            <a:srgbClr val="FFFFFF"/>
          </a:solidFill>
          <a:ln w="12700">
            <a:solidFill>
              <a:srgbClr val="DCE6E0"/>
            </a:solidFill>
            <a:prstDash val="solid"/>
          </a:ln>
        </p:spPr>
      </p:sp>
      <p:sp>
        <p:nvSpPr>
          <p:cNvPr id="7" name="Shape 5"/>
          <p:cNvSpPr/>
          <p:nvPr/>
        </p:nvSpPr>
        <p:spPr>
          <a:xfrm>
            <a:off x="7452360" y="2057400"/>
            <a:ext cx="73152" cy="2468880"/>
          </a:xfrm>
          <a:prstGeom prst="rect">
            <a:avLst/>
          </a:prstGeom>
          <a:solidFill>
            <a:srgbClr val="D88B27"/>
          </a:solidFill>
          <a:ln w="12700">
            <a:solidFill>
              <a:srgbClr val="D88B27"/>
            </a:solidFill>
            <a:prstDash val="solid"/>
          </a:ln>
        </p:spPr>
      </p:sp>
      <p:sp>
        <p:nvSpPr>
          <p:cNvPr id="8" name="Text 6"/>
          <p:cNvSpPr/>
          <p:nvPr/>
        </p:nvSpPr>
        <p:spPr>
          <a:xfrm>
            <a:off x="7680960" y="2286000"/>
            <a:ext cx="3474720" cy="274320"/>
          </a:xfrm>
          <a:prstGeom prst="rect">
            <a:avLst/>
          </a:prstGeom>
          <a:noFill/>
          <a:ln/>
        </p:spPr>
        <p:txBody>
          <a:bodyPr wrap="square" lIns="0" tIns="0" rIns="0" bIns="0" rtlCol="0" anchor="ctr"/>
          <a:lstStyle/>
          <a:p>
            <a:pPr indent="0" marL="0">
              <a:buNone/>
            </a:pPr>
            <a:r>
              <a:rPr lang="en-US" sz="1500" b="1" dirty="0">
                <a:solidFill>
                  <a:srgbClr val="172327"/>
                </a:solidFill>
              </a:rPr>
              <a:t>The question we answer</a:t>
            </a:r>
            <a:endParaRPr lang="en-US" sz="1500" dirty="0"/>
          </a:p>
        </p:txBody>
      </p:sp>
      <p:sp>
        <p:nvSpPr>
          <p:cNvPr id="9" name="Text 7"/>
          <p:cNvSpPr/>
          <p:nvPr/>
        </p:nvSpPr>
        <p:spPr>
          <a:xfrm>
            <a:off x="7680960" y="2697480"/>
            <a:ext cx="3474720" cy="1645920"/>
          </a:xfrm>
          <a:prstGeom prst="rect">
            <a:avLst/>
          </a:prstGeom>
          <a:noFill/>
          <a:ln/>
        </p:spPr>
        <p:txBody>
          <a:bodyPr wrap="square" lIns="0" tIns="0" rIns="0" bIns="0" rtlCol="0" anchor="ctr"/>
          <a:lstStyle/>
          <a:p>
            <a:pPr indent="0" marL="0">
              <a:buNone/>
            </a:pPr>
            <a:r>
              <a:rPr lang="en-US" sz="1100" dirty="0">
                <a:solidFill>
                  <a:srgbClr val="718080"/>
                </a:solidFill>
              </a:rPr>
              <a:t>Which functionality was exercised, what was missed, and what risk remains?</a:t>
            </a:r>
            <a:endParaRPr lang="en-US" sz="1100" dirty="0"/>
          </a:p>
        </p:txBody>
      </p:sp>
      <p:sp>
        <p:nvSpPr>
          <p:cNvPr id="10" name="Shape 8"/>
          <p:cNvSpPr/>
          <p:nvPr/>
        </p:nvSpPr>
        <p:spPr>
          <a:xfrm>
            <a:off x="7726680" y="3886200"/>
            <a:ext cx="3337560" cy="384048"/>
          </a:xfrm>
          <a:prstGeom prst="roundRect">
            <a:avLst>
              <a:gd name="adj" fmla="val 11905"/>
            </a:avLst>
          </a:prstGeom>
          <a:solidFill>
            <a:srgbClr val="FFF3DF"/>
          </a:solidFill>
          <a:ln w="12700">
            <a:solidFill>
              <a:srgbClr val="FFF3DF">
                <a:alpha val="0"/>
              </a:srgbClr>
            </a:solidFill>
            <a:prstDash val="solid"/>
          </a:ln>
        </p:spPr>
      </p:sp>
      <p:sp>
        <p:nvSpPr>
          <p:cNvPr id="11" name="Text 9"/>
          <p:cNvSpPr/>
          <p:nvPr/>
        </p:nvSpPr>
        <p:spPr>
          <a:xfrm>
            <a:off x="7726680" y="3977640"/>
            <a:ext cx="3337560" cy="146304"/>
          </a:xfrm>
          <a:prstGeom prst="rect">
            <a:avLst/>
          </a:prstGeom>
          <a:noFill/>
          <a:ln/>
        </p:spPr>
        <p:txBody>
          <a:bodyPr wrap="square" lIns="0" tIns="0" rIns="0" bIns="0" rtlCol="0" anchor="ctr"/>
          <a:lstStyle/>
          <a:p>
            <a:pPr algn="ctr" indent="0" marL="0">
              <a:buNone/>
            </a:pPr>
            <a:r>
              <a:rPr lang="en-US" sz="900" b="1" dirty="0">
                <a:solidFill>
                  <a:srgbClr val="B66F17"/>
                </a:solidFill>
              </a:rPr>
              <a:t>PASS / FAIL IS NOT ENOUGH</a:t>
            </a:r>
            <a:endParaRPr lang="en-US" sz="9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02 / OBJECTIVE</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One quality signal across the whole journey</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A focused platform for banking application validation.</a:t>
            </a:r>
            <a:endParaRPr lang="en-US" sz="1200" dirty="0"/>
          </a:p>
        </p:txBody>
      </p:sp>
      <p:sp>
        <p:nvSpPr>
          <p:cNvPr id="5" name="Shape 3"/>
          <p:cNvSpPr/>
          <p:nvPr/>
        </p:nvSpPr>
        <p:spPr>
          <a:xfrm>
            <a:off x="594360" y="2514600"/>
            <a:ext cx="2072030" cy="685800"/>
          </a:xfrm>
          <a:prstGeom prst="roundRect">
            <a:avLst>
              <a:gd name="adj" fmla="val 5333"/>
            </a:avLst>
          </a:prstGeom>
          <a:solidFill>
            <a:srgbClr val="FFFFFF"/>
          </a:solidFill>
          <a:ln w="12700">
            <a:solidFill>
              <a:srgbClr val="DCE6E0"/>
            </a:solidFill>
            <a:prstDash val="solid"/>
          </a:ln>
        </p:spPr>
      </p:sp>
      <p:sp>
        <p:nvSpPr>
          <p:cNvPr id="6" name="Text 4"/>
          <p:cNvSpPr/>
          <p:nvPr/>
        </p:nvSpPr>
        <p:spPr>
          <a:xfrm>
            <a:off x="667512"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Banking app</a:t>
            </a:r>
            <a:endParaRPr lang="en-US" sz="1100" dirty="0"/>
          </a:p>
        </p:txBody>
      </p:sp>
      <p:sp>
        <p:nvSpPr>
          <p:cNvPr id="7" name="Text 5"/>
          <p:cNvSpPr/>
          <p:nvPr/>
        </p:nvSpPr>
        <p:spPr>
          <a:xfrm>
            <a:off x="2684678"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8" name="Shape 6"/>
          <p:cNvSpPr/>
          <p:nvPr/>
        </p:nvSpPr>
        <p:spPr>
          <a:xfrm>
            <a:off x="2830982" y="2514600"/>
            <a:ext cx="2072030" cy="685800"/>
          </a:xfrm>
          <a:prstGeom prst="roundRect">
            <a:avLst>
              <a:gd name="adj" fmla="val 5333"/>
            </a:avLst>
          </a:prstGeom>
          <a:solidFill>
            <a:srgbClr val="FFFFFF"/>
          </a:solidFill>
          <a:ln w="12700">
            <a:solidFill>
              <a:srgbClr val="DCE6E0"/>
            </a:solidFill>
            <a:prstDash val="solid"/>
          </a:ln>
        </p:spPr>
      </p:sp>
      <p:sp>
        <p:nvSpPr>
          <p:cNvPr id="9" name="Text 7"/>
          <p:cNvSpPr/>
          <p:nvPr/>
        </p:nvSpPr>
        <p:spPr>
          <a:xfrm>
            <a:off x="2904134"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Reusable assets</a:t>
            </a:r>
            <a:endParaRPr lang="en-US" sz="1100" dirty="0"/>
          </a:p>
        </p:txBody>
      </p:sp>
      <p:sp>
        <p:nvSpPr>
          <p:cNvPr id="10" name="Text 8"/>
          <p:cNvSpPr/>
          <p:nvPr/>
        </p:nvSpPr>
        <p:spPr>
          <a:xfrm>
            <a:off x="4921301"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1" name="Shape 9"/>
          <p:cNvSpPr/>
          <p:nvPr/>
        </p:nvSpPr>
        <p:spPr>
          <a:xfrm>
            <a:off x="5067605" y="2514600"/>
            <a:ext cx="2072030" cy="685800"/>
          </a:xfrm>
          <a:prstGeom prst="roundRect">
            <a:avLst>
              <a:gd name="adj" fmla="val 5333"/>
            </a:avLst>
          </a:prstGeom>
          <a:solidFill>
            <a:srgbClr val="FFFFFF"/>
          </a:solidFill>
          <a:ln w="12700">
            <a:solidFill>
              <a:srgbClr val="DCE6E0"/>
            </a:solidFill>
            <a:prstDash val="solid"/>
          </a:ln>
        </p:spPr>
      </p:sp>
      <p:sp>
        <p:nvSpPr>
          <p:cNvPr id="12" name="Text 10"/>
          <p:cNvSpPr/>
          <p:nvPr/>
        </p:nvSpPr>
        <p:spPr>
          <a:xfrm>
            <a:off x="5140757"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Capture + recovery</a:t>
            </a:r>
            <a:endParaRPr lang="en-US" sz="1100" dirty="0"/>
          </a:p>
        </p:txBody>
      </p:sp>
      <p:sp>
        <p:nvSpPr>
          <p:cNvPr id="13" name="Text 11"/>
          <p:cNvSpPr/>
          <p:nvPr/>
        </p:nvSpPr>
        <p:spPr>
          <a:xfrm>
            <a:off x="7157923"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4" name="Shape 12"/>
          <p:cNvSpPr/>
          <p:nvPr/>
        </p:nvSpPr>
        <p:spPr>
          <a:xfrm>
            <a:off x="7304227" y="2514600"/>
            <a:ext cx="2072030" cy="685800"/>
          </a:xfrm>
          <a:prstGeom prst="roundRect">
            <a:avLst>
              <a:gd name="adj" fmla="val 5333"/>
            </a:avLst>
          </a:prstGeom>
          <a:solidFill>
            <a:srgbClr val="FFFFFF"/>
          </a:solidFill>
          <a:ln w="12700">
            <a:solidFill>
              <a:srgbClr val="DCE6E0"/>
            </a:solidFill>
            <a:prstDash val="solid"/>
          </a:ln>
        </p:spPr>
      </p:sp>
      <p:sp>
        <p:nvSpPr>
          <p:cNvPr id="15" name="Text 13"/>
          <p:cNvSpPr/>
          <p:nvPr/>
        </p:nvSpPr>
        <p:spPr>
          <a:xfrm>
            <a:off x="7377379"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Gap analyzer</a:t>
            </a:r>
            <a:endParaRPr lang="en-US" sz="1100" dirty="0"/>
          </a:p>
        </p:txBody>
      </p:sp>
      <p:sp>
        <p:nvSpPr>
          <p:cNvPr id="16" name="Text 14"/>
          <p:cNvSpPr/>
          <p:nvPr/>
        </p:nvSpPr>
        <p:spPr>
          <a:xfrm>
            <a:off x="9394546"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7" name="Shape 15"/>
          <p:cNvSpPr/>
          <p:nvPr/>
        </p:nvSpPr>
        <p:spPr>
          <a:xfrm>
            <a:off x="9540850" y="2514600"/>
            <a:ext cx="2072030" cy="685800"/>
          </a:xfrm>
          <a:prstGeom prst="roundRect">
            <a:avLst>
              <a:gd name="adj" fmla="val 5333"/>
            </a:avLst>
          </a:prstGeom>
          <a:solidFill>
            <a:srgbClr val="103332"/>
          </a:solidFill>
          <a:ln w="12700">
            <a:solidFill>
              <a:srgbClr val="103332"/>
            </a:solidFill>
            <a:prstDash val="solid"/>
          </a:ln>
        </p:spPr>
      </p:sp>
      <p:sp>
        <p:nvSpPr>
          <p:cNvPr id="18" name="Text 16"/>
          <p:cNvSpPr/>
          <p:nvPr/>
        </p:nvSpPr>
        <p:spPr>
          <a:xfrm>
            <a:off x="9614002" y="2734056"/>
            <a:ext cx="1925726" cy="228600"/>
          </a:xfrm>
          <a:prstGeom prst="rect">
            <a:avLst/>
          </a:prstGeom>
          <a:noFill/>
          <a:ln/>
        </p:spPr>
        <p:txBody>
          <a:bodyPr wrap="square" lIns="0" tIns="0" rIns="0" bIns="0" rtlCol="0" anchor="ctr"/>
          <a:lstStyle/>
          <a:p>
            <a:pPr algn="ctr" indent="0" marL="0">
              <a:buNone/>
            </a:pPr>
            <a:r>
              <a:rPr lang="en-US" sz="1100" b="1" dirty="0">
                <a:solidFill>
                  <a:srgbClr val="FFFFFF"/>
                </a:solidFill>
              </a:rPr>
              <a:t>Quality dashboard</a:t>
            </a:r>
            <a:endParaRPr lang="en-US" sz="1100" dirty="0"/>
          </a:p>
        </p:txBody>
      </p:sp>
      <p:sp>
        <p:nvSpPr>
          <p:cNvPr id="19" name="Text 17"/>
          <p:cNvSpPr/>
          <p:nvPr/>
        </p:nvSpPr>
        <p:spPr>
          <a:xfrm>
            <a:off x="960120" y="3794760"/>
            <a:ext cx="9875520" cy="3474720"/>
          </a:xfrm>
          <a:prstGeom prst="rect">
            <a:avLst/>
          </a:prstGeom>
          <a:noFill/>
          <a:ln/>
        </p:spPr>
        <p:txBody>
          <a:bodyPr wrap="square" lIns="254" tIns="254" rIns="254" bIns="254" rtlCol="0" anchor="ctr"/>
          <a:lstStyle/>
          <a:p>
            <a:pPr marL="190500" indent="-190500">
              <a:buSzPct val="100000"/>
              <a:buChar char="•"/>
            </a:pPr>
            <a:r>
              <a:rPr lang="en-US" sz="1500" dirty="0">
                <a:solidFill>
                  <a:srgbClr val="172327"/>
                </a:solidFill>
              </a:rPr>
              <a:t>Reduce automation maintenance effort</a:t>
            </a:r>
            <a:endParaRPr lang="en-US" sz="1500" dirty="0"/>
          </a:p>
          <a:p>
            <a:pPr marL="190500" indent="-190500">
              <a:buSzPct val="100000"/>
              <a:buChar char="•"/>
            </a:pPr>
            <a:r>
              <a:rPr lang="en-US" sz="1500" dirty="0">
                <a:solidFill>
                  <a:srgbClr val="172327"/>
                </a:solidFill>
              </a:rPr>
              <a:t>Externalize test data, locators, and XPath values</a:t>
            </a:r>
            <a:endParaRPr lang="en-US" sz="1500" dirty="0"/>
          </a:p>
          <a:p>
            <a:pPr marL="190500" indent="-190500">
              <a:buSzPct val="100000"/>
              <a:buChar char="•"/>
            </a:pPr>
            <a:r>
              <a:rPr lang="en-US" sz="1500" dirty="0">
                <a:solidFill>
                  <a:srgbClr val="172327"/>
                </a:solidFill>
              </a:rPr>
              <a:t>Map actions to modules and sub-modules</a:t>
            </a:r>
            <a:endParaRPr lang="en-US" sz="1500" dirty="0"/>
          </a:p>
          <a:p>
            <a:pPr marL="190500" indent="-190500">
              <a:buSzPct val="100000"/>
              <a:buChar char="•"/>
            </a:pPr>
            <a:r>
              <a:rPr lang="en-US" sz="1500" dirty="0">
                <a:solidFill>
                  <a:srgbClr val="172327"/>
                </a:solidFill>
              </a:rPr>
              <a:t>Calculate coverage, gap, risk, and business impact</a:t>
            </a:r>
            <a:endParaRPr lang="en-US" sz="15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03 / PHASE 1</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Prove reusability and self-recovery</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same automation should work before and after functionality is re-enabled.</a:t>
            </a:r>
            <a:endParaRPr lang="en-US" sz="1200" dirty="0"/>
          </a:p>
        </p:txBody>
      </p:sp>
      <p:sp>
        <p:nvSpPr>
          <p:cNvPr id="5" name="Shape 3"/>
          <p:cNvSpPr/>
          <p:nvPr/>
        </p:nvSpPr>
        <p:spPr>
          <a:xfrm>
            <a:off x="594360" y="2423160"/>
            <a:ext cx="1699260" cy="685800"/>
          </a:xfrm>
          <a:prstGeom prst="roundRect">
            <a:avLst>
              <a:gd name="adj" fmla="val 5333"/>
            </a:avLst>
          </a:prstGeom>
          <a:solidFill>
            <a:srgbClr val="FFFFFF"/>
          </a:solidFill>
          <a:ln w="12700">
            <a:solidFill>
              <a:srgbClr val="DCE6E0"/>
            </a:solidFill>
            <a:prstDash val="solid"/>
          </a:ln>
        </p:spPr>
      </p:sp>
      <p:sp>
        <p:nvSpPr>
          <p:cNvPr id="6" name="Text 4"/>
          <p:cNvSpPr/>
          <p:nvPr/>
        </p:nvSpPr>
        <p:spPr>
          <a:xfrm>
            <a:off x="667512"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Disable module</a:t>
            </a:r>
            <a:endParaRPr lang="en-US" sz="1100" dirty="0"/>
          </a:p>
        </p:txBody>
      </p:sp>
      <p:sp>
        <p:nvSpPr>
          <p:cNvPr id="7" name="Text 5"/>
          <p:cNvSpPr/>
          <p:nvPr/>
        </p:nvSpPr>
        <p:spPr>
          <a:xfrm>
            <a:off x="2311908"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8" name="Shape 6"/>
          <p:cNvSpPr/>
          <p:nvPr/>
        </p:nvSpPr>
        <p:spPr>
          <a:xfrm>
            <a:off x="2458212" y="2423160"/>
            <a:ext cx="1699260" cy="685800"/>
          </a:xfrm>
          <a:prstGeom prst="roundRect">
            <a:avLst>
              <a:gd name="adj" fmla="val 5333"/>
            </a:avLst>
          </a:prstGeom>
          <a:solidFill>
            <a:srgbClr val="FFFFFF"/>
          </a:solidFill>
          <a:ln w="12700">
            <a:solidFill>
              <a:srgbClr val="DCE6E0"/>
            </a:solidFill>
            <a:prstDash val="solid"/>
          </a:ln>
        </p:spPr>
      </p:sp>
      <p:sp>
        <p:nvSpPr>
          <p:cNvPr id="9" name="Text 7"/>
          <p:cNvSpPr/>
          <p:nvPr/>
        </p:nvSpPr>
        <p:spPr>
          <a:xfrm>
            <a:off x="2531364"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Run reusable test</a:t>
            </a:r>
            <a:endParaRPr lang="en-US" sz="1100" dirty="0"/>
          </a:p>
        </p:txBody>
      </p:sp>
      <p:sp>
        <p:nvSpPr>
          <p:cNvPr id="10" name="Text 8"/>
          <p:cNvSpPr/>
          <p:nvPr/>
        </p:nvSpPr>
        <p:spPr>
          <a:xfrm>
            <a:off x="4175760"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1" name="Shape 9"/>
          <p:cNvSpPr/>
          <p:nvPr/>
        </p:nvSpPr>
        <p:spPr>
          <a:xfrm>
            <a:off x="4322064" y="2423160"/>
            <a:ext cx="1699260" cy="685800"/>
          </a:xfrm>
          <a:prstGeom prst="roundRect">
            <a:avLst>
              <a:gd name="adj" fmla="val 5333"/>
            </a:avLst>
          </a:prstGeom>
          <a:solidFill>
            <a:srgbClr val="FFFFFF"/>
          </a:solidFill>
          <a:ln w="12700">
            <a:solidFill>
              <a:srgbClr val="DCE6E0"/>
            </a:solidFill>
            <a:prstDash val="solid"/>
          </a:ln>
        </p:spPr>
      </p:sp>
      <p:sp>
        <p:nvSpPr>
          <p:cNvPr id="12" name="Text 10"/>
          <p:cNvSpPr/>
          <p:nvPr/>
        </p:nvSpPr>
        <p:spPr>
          <a:xfrm>
            <a:off x="4395216"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Detect gap</a:t>
            </a:r>
            <a:endParaRPr lang="en-US" sz="1100" dirty="0"/>
          </a:p>
        </p:txBody>
      </p:sp>
      <p:sp>
        <p:nvSpPr>
          <p:cNvPr id="13" name="Text 11"/>
          <p:cNvSpPr/>
          <p:nvPr/>
        </p:nvSpPr>
        <p:spPr>
          <a:xfrm>
            <a:off x="6039612"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4" name="Shape 12"/>
          <p:cNvSpPr/>
          <p:nvPr/>
        </p:nvSpPr>
        <p:spPr>
          <a:xfrm>
            <a:off x="6185916" y="2423160"/>
            <a:ext cx="1699260" cy="685800"/>
          </a:xfrm>
          <a:prstGeom prst="roundRect">
            <a:avLst>
              <a:gd name="adj" fmla="val 5333"/>
            </a:avLst>
          </a:prstGeom>
          <a:solidFill>
            <a:srgbClr val="FFFFFF"/>
          </a:solidFill>
          <a:ln w="12700">
            <a:solidFill>
              <a:srgbClr val="DCE6E0"/>
            </a:solidFill>
            <a:prstDash val="solid"/>
          </a:ln>
        </p:spPr>
      </p:sp>
      <p:sp>
        <p:nvSpPr>
          <p:cNvPr id="15" name="Text 13"/>
          <p:cNvSpPr/>
          <p:nvPr/>
        </p:nvSpPr>
        <p:spPr>
          <a:xfrm>
            <a:off x="6259068"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Re-enable module</a:t>
            </a:r>
            <a:endParaRPr lang="en-US" sz="1100" dirty="0"/>
          </a:p>
        </p:txBody>
      </p:sp>
      <p:sp>
        <p:nvSpPr>
          <p:cNvPr id="16" name="Text 14"/>
          <p:cNvSpPr/>
          <p:nvPr/>
        </p:nvSpPr>
        <p:spPr>
          <a:xfrm>
            <a:off x="7903464"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7" name="Shape 15"/>
          <p:cNvSpPr/>
          <p:nvPr/>
        </p:nvSpPr>
        <p:spPr>
          <a:xfrm>
            <a:off x="8049768" y="2423160"/>
            <a:ext cx="1699260" cy="685800"/>
          </a:xfrm>
          <a:prstGeom prst="roundRect">
            <a:avLst>
              <a:gd name="adj" fmla="val 5333"/>
            </a:avLst>
          </a:prstGeom>
          <a:solidFill>
            <a:srgbClr val="FFFFFF"/>
          </a:solidFill>
          <a:ln w="12700">
            <a:solidFill>
              <a:srgbClr val="DCE6E0"/>
            </a:solidFill>
            <a:prstDash val="solid"/>
          </a:ln>
        </p:spPr>
      </p:sp>
      <p:sp>
        <p:nvSpPr>
          <p:cNvPr id="18" name="Text 16"/>
          <p:cNvSpPr/>
          <p:nvPr/>
        </p:nvSpPr>
        <p:spPr>
          <a:xfrm>
            <a:off x="8122920"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Run unchanged</a:t>
            </a:r>
            <a:endParaRPr lang="en-US" sz="1100" dirty="0"/>
          </a:p>
        </p:txBody>
      </p:sp>
      <p:sp>
        <p:nvSpPr>
          <p:cNvPr id="19" name="Text 17"/>
          <p:cNvSpPr/>
          <p:nvPr/>
        </p:nvSpPr>
        <p:spPr>
          <a:xfrm>
            <a:off x="9767316"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20" name="Shape 18"/>
          <p:cNvSpPr/>
          <p:nvPr/>
        </p:nvSpPr>
        <p:spPr>
          <a:xfrm>
            <a:off x="9913620" y="2423160"/>
            <a:ext cx="1699260" cy="685800"/>
          </a:xfrm>
          <a:prstGeom prst="roundRect">
            <a:avLst>
              <a:gd name="adj" fmla="val 5333"/>
            </a:avLst>
          </a:prstGeom>
          <a:solidFill>
            <a:srgbClr val="103332"/>
          </a:solidFill>
          <a:ln w="12700">
            <a:solidFill>
              <a:srgbClr val="103332"/>
            </a:solidFill>
            <a:prstDash val="solid"/>
          </a:ln>
        </p:spPr>
      </p:sp>
      <p:sp>
        <p:nvSpPr>
          <p:cNvPr id="21" name="Text 19"/>
          <p:cNvSpPr/>
          <p:nvPr/>
        </p:nvSpPr>
        <p:spPr>
          <a:xfrm>
            <a:off x="9986772" y="2642616"/>
            <a:ext cx="1552956" cy="228600"/>
          </a:xfrm>
          <a:prstGeom prst="rect">
            <a:avLst/>
          </a:prstGeom>
          <a:noFill/>
          <a:ln/>
        </p:spPr>
        <p:txBody>
          <a:bodyPr wrap="square" lIns="0" tIns="0" rIns="0" bIns="0" rtlCol="0" anchor="ctr"/>
          <a:lstStyle/>
          <a:p>
            <a:pPr algn="ctr" indent="0" marL="0">
              <a:buNone/>
            </a:pPr>
            <a:r>
              <a:rPr lang="en-US" sz="1100" b="1" dirty="0">
                <a:solidFill>
                  <a:srgbClr val="FFFFFF"/>
                </a:solidFill>
              </a:rPr>
              <a:t>Pass</a:t>
            </a:r>
            <a:endParaRPr lang="en-US" sz="1100" dirty="0"/>
          </a:p>
        </p:txBody>
      </p:sp>
      <p:sp>
        <p:nvSpPr>
          <p:cNvPr id="22" name="Shape 20"/>
          <p:cNvSpPr/>
          <p:nvPr/>
        </p:nvSpPr>
        <p:spPr>
          <a:xfrm>
            <a:off x="960120" y="3886200"/>
            <a:ext cx="3063240" cy="1143000"/>
          </a:xfrm>
          <a:prstGeom prst="roundRect">
            <a:avLst>
              <a:gd name="adj" fmla="val 4000"/>
            </a:avLst>
          </a:prstGeom>
          <a:solidFill>
            <a:srgbClr val="FFFFFF"/>
          </a:solidFill>
          <a:ln w="12700">
            <a:solidFill>
              <a:srgbClr val="DCE6E0"/>
            </a:solidFill>
            <a:prstDash val="solid"/>
          </a:ln>
        </p:spPr>
      </p:sp>
      <p:sp>
        <p:nvSpPr>
          <p:cNvPr id="23" name="Shape 21"/>
          <p:cNvSpPr/>
          <p:nvPr/>
        </p:nvSpPr>
        <p:spPr>
          <a:xfrm>
            <a:off x="960120" y="3886200"/>
            <a:ext cx="73152" cy="1143000"/>
          </a:xfrm>
          <a:prstGeom prst="rect">
            <a:avLst/>
          </a:prstGeom>
          <a:solidFill>
            <a:srgbClr val="16A36C"/>
          </a:solidFill>
          <a:ln w="12700">
            <a:solidFill>
              <a:srgbClr val="16A36C"/>
            </a:solidFill>
            <a:prstDash val="solid"/>
          </a:ln>
        </p:spPr>
      </p:sp>
      <p:sp>
        <p:nvSpPr>
          <p:cNvPr id="24" name="Text 22"/>
          <p:cNvSpPr/>
          <p:nvPr/>
        </p:nvSpPr>
        <p:spPr>
          <a:xfrm>
            <a:off x="1188720" y="4114800"/>
            <a:ext cx="2651760" cy="274320"/>
          </a:xfrm>
          <a:prstGeom prst="rect">
            <a:avLst/>
          </a:prstGeom>
          <a:noFill/>
          <a:ln/>
        </p:spPr>
        <p:txBody>
          <a:bodyPr wrap="square" lIns="0" tIns="0" rIns="0" bIns="0" rtlCol="0" anchor="ctr"/>
          <a:lstStyle/>
          <a:p>
            <a:pPr indent="0" marL="0">
              <a:buNone/>
            </a:pPr>
            <a:r>
              <a:rPr lang="en-US" sz="1500" b="1" dirty="0">
                <a:solidFill>
                  <a:srgbClr val="172327"/>
                </a:solidFill>
              </a:rPr>
              <a:t>External data</a:t>
            </a:r>
            <a:endParaRPr lang="en-US" sz="1500" dirty="0"/>
          </a:p>
        </p:txBody>
      </p:sp>
      <p:sp>
        <p:nvSpPr>
          <p:cNvPr id="25" name="Text 23"/>
          <p:cNvSpPr/>
          <p:nvPr/>
        </p:nvSpPr>
        <p:spPr>
          <a:xfrm>
            <a:off x="1188720" y="4526280"/>
            <a:ext cx="2651760" cy="320040"/>
          </a:xfrm>
          <a:prstGeom prst="rect">
            <a:avLst/>
          </a:prstGeom>
          <a:noFill/>
          <a:ln/>
        </p:spPr>
        <p:txBody>
          <a:bodyPr wrap="square" lIns="0" tIns="0" rIns="0" bIns="0" rtlCol="0" anchor="ctr"/>
          <a:lstStyle/>
          <a:p>
            <a:pPr indent="0" marL="0">
              <a:buNone/>
            </a:pPr>
            <a:r>
              <a:rPr lang="en-US" sz="1100" dirty="0">
                <a:solidFill>
                  <a:srgbClr val="718080"/>
                </a:solidFill>
              </a:rPr>
              <a:t>Test data, locators, and XPath repositories are kept outside the automation logic.</a:t>
            </a:r>
            <a:endParaRPr lang="en-US" sz="1100" dirty="0"/>
          </a:p>
        </p:txBody>
      </p:sp>
      <p:sp>
        <p:nvSpPr>
          <p:cNvPr id="26" name="Shape 24"/>
          <p:cNvSpPr/>
          <p:nvPr/>
        </p:nvSpPr>
        <p:spPr>
          <a:xfrm>
            <a:off x="4553712" y="3886200"/>
            <a:ext cx="3063240" cy="1143000"/>
          </a:xfrm>
          <a:prstGeom prst="roundRect">
            <a:avLst>
              <a:gd name="adj" fmla="val 4000"/>
            </a:avLst>
          </a:prstGeom>
          <a:solidFill>
            <a:srgbClr val="FFFFFF"/>
          </a:solidFill>
          <a:ln w="12700">
            <a:solidFill>
              <a:srgbClr val="DCE6E0"/>
            </a:solidFill>
            <a:prstDash val="solid"/>
          </a:ln>
        </p:spPr>
      </p:sp>
      <p:sp>
        <p:nvSpPr>
          <p:cNvPr id="27" name="Shape 25"/>
          <p:cNvSpPr/>
          <p:nvPr/>
        </p:nvSpPr>
        <p:spPr>
          <a:xfrm>
            <a:off x="4553712" y="3886200"/>
            <a:ext cx="73152" cy="1143000"/>
          </a:xfrm>
          <a:prstGeom prst="rect">
            <a:avLst/>
          </a:prstGeom>
          <a:solidFill>
            <a:srgbClr val="16A36C"/>
          </a:solidFill>
          <a:ln w="12700">
            <a:solidFill>
              <a:srgbClr val="16A36C"/>
            </a:solidFill>
            <a:prstDash val="solid"/>
          </a:ln>
        </p:spPr>
      </p:sp>
      <p:sp>
        <p:nvSpPr>
          <p:cNvPr id="28" name="Text 26"/>
          <p:cNvSpPr/>
          <p:nvPr/>
        </p:nvSpPr>
        <p:spPr>
          <a:xfrm>
            <a:off x="4782312" y="4114800"/>
            <a:ext cx="2651760" cy="274320"/>
          </a:xfrm>
          <a:prstGeom prst="rect">
            <a:avLst/>
          </a:prstGeom>
          <a:noFill/>
          <a:ln/>
        </p:spPr>
        <p:txBody>
          <a:bodyPr wrap="square" lIns="0" tIns="0" rIns="0" bIns="0" rtlCol="0" anchor="ctr"/>
          <a:lstStyle/>
          <a:p>
            <a:pPr indent="0" marL="0">
              <a:buNone/>
            </a:pPr>
            <a:r>
              <a:rPr lang="en-US" sz="1500" b="1" dirty="0">
                <a:solidFill>
                  <a:srgbClr val="172327"/>
                </a:solidFill>
              </a:rPr>
              <a:t>Reusable execution</a:t>
            </a:r>
            <a:endParaRPr lang="en-US" sz="1500" dirty="0"/>
          </a:p>
        </p:txBody>
      </p:sp>
      <p:sp>
        <p:nvSpPr>
          <p:cNvPr id="29" name="Text 27"/>
          <p:cNvSpPr/>
          <p:nvPr/>
        </p:nvSpPr>
        <p:spPr>
          <a:xfrm>
            <a:off x="4782312" y="4526280"/>
            <a:ext cx="2651760" cy="320040"/>
          </a:xfrm>
          <a:prstGeom prst="rect">
            <a:avLst/>
          </a:prstGeom>
          <a:noFill/>
          <a:ln/>
        </p:spPr>
        <p:txBody>
          <a:bodyPr wrap="square" lIns="0" tIns="0" rIns="0" bIns="0" rtlCol="0" anchor="ctr"/>
          <a:lstStyle/>
          <a:p>
            <a:pPr indent="0" marL="0">
              <a:buNone/>
            </a:pPr>
            <a:r>
              <a:rPr lang="en-US" sz="1100" dirty="0">
                <a:solidFill>
                  <a:srgbClr val="718080"/>
                </a:solidFill>
              </a:rPr>
              <a:t>A module status change should not require script edits.</a:t>
            </a:r>
            <a:endParaRPr lang="en-US" sz="1100" dirty="0"/>
          </a:p>
        </p:txBody>
      </p:sp>
      <p:sp>
        <p:nvSpPr>
          <p:cNvPr id="30" name="Shape 28"/>
          <p:cNvSpPr/>
          <p:nvPr/>
        </p:nvSpPr>
        <p:spPr>
          <a:xfrm>
            <a:off x="8138160" y="3886200"/>
            <a:ext cx="3063240" cy="1143000"/>
          </a:xfrm>
          <a:prstGeom prst="roundRect">
            <a:avLst>
              <a:gd name="adj" fmla="val 4000"/>
            </a:avLst>
          </a:prstGeom>
          <a:solidFill>
            <a:srgbClr val="FFFFFF"/>
          </a:solidFill>
          <a:ln w="12700">
            <a:solidFill>
              <a:srgbClr val="DCE6E0"/>
            </a:solidFill>
            <a:prstDash val="solid"/>
          </a:ln>
        </p:spPr>
      </p:sp>
      <p:sp>
        <p:nvSpPr>
          <p:cNvPr id="31" name="Shape 29"/>
          <p:cNvSpPr/>
          <p:nvPr/>
        </p:nvSpPr>
        <p:spPr>
          <a:xfrm>
            <a:off x="8138160" y="3886200"/>
            <a:ext cx="73152" cy="1143000"/>
          </a:xfrm>
          <a:prstGeom prst="rect">
            <a:avLst/>
          </a:prstGeom>
          <a:solidFill>
            <a:srgbClr val="16A36C"/>
          </a:solidFill>
          <a:ln w="12700">
            <a:solidFill>
              <a:srgbClr val="16A36C"/>
            </a:solidFill>
            <a:prstDash val="solid"/>
          </a:ln>
        </p:spPr>
      </p:sp>
      <p:sp>
        <p:nvSpPr>
          <p:cNvPr id="32" name="Text 30"/>
          <p:cNvSpPr/>
          <p:nvPr/>
        </p:nvSpPr>
        <p:spPr>
          <a:xfrm>
            <a:off x="8366760" y="4114800"/>
            <a:ext cx="2651760" cy="274320"/>
          </a:xfrm>
          <a:prstGeom prst="rect">
            <a:avLst/>
          </a:prstGeom>
          <a:noFill/>
          <a:ln/>
        </p:spPr>
        <p:txBody>
          <a:bodyPr wrap="square" lIns="0" tIns="0" rIns="0" bIns="0" rtlCol="0" anchor="ctr"/>
          <a:lstStyle/>
          <a:p>
            <a:pPr indent="0" marL="0">
              <a:buNone/>
            </a:pPr>
            <a:r>
              <a:rPr lang="en-US" sz="1500" b="1" dirty="0">
                <a:solidFill>
                  <a:srgbClr val="172327"/>
                </a:solidFill>
              </a:rPr>
              <a:t>Evidence</a:t>
            </a:r>
            <a:endParaRPr lang="en-US" sz="1500" dirty="0"/>
          </a:p>
        </p:txBody>
      </p:sp>
      <p:sp>
        <p:nvSpPr>
          <p:cNvPr id="33" name="Text 31"/>
          <p:cNvSpPr/>
          <p:nvPr/>
        </p:nvSpPr>
        <p:spPr>
          <a:xfrm>
            <a:off x="8366760" y="4526280"/>
            <a:ext cx="2651760" cy="320040"/>
          </a:xfrm>
          <a:prstGeom prst="rect">
            <a:avLst/>
          </a:prstGeom>
          <a:noFill/>
          <a:ln/>
        </p:spPr>
        <p:txBody>
          <a:bodyPr wrap="square" lIns="0" tIns="0" rIns="0" bIns="0" rtlCol="0" anchor="ctr"/>
          <a:lstStyle/>
          <a:p>
            <a:pPr indent="0" marL="0">
              <a:buNone/>
            </a:pPr>
            <a:r>
              <a:rPr lang="en-US" sz="1100" dirty="0">
                <a:solidFill>
                  <a:srgbClr val="718080"/>
                </a:solidFill>
              </a:rPr>
              <a:t>The execution result becomes coverage evidence for the analyzer.</a:t>
            </a:r>
            <a:endParaRPr lang="en-US" sz="11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04 / PHASE 2</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Measure what regression actually covered</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analyzer compares the application inventory with captured execution paths.</a:t>
            </a:r>
            <a:endParaRPr lang="en-US" sz="1200" dirty="0"/>
          </a:p>
        </p:txBody>
      </p:sp>
      <p:sp>
        <p:nvSpPr>
          <p:cNvPr id="5" name="Shape 3"/>
          <p:cNvSpPr/>
          <p:nvPr/>
        </p:nvSpPr>
        <p:spPr>
          <a:xfrm>
            <a:off x="731520" y="2148840"/>
            <a:ext cx="3291840" cy="1965960"/>
          </a:xfrm>
          <a:prstGeom prst="roundRect">
            <a:avLst>
              <a:gd name="adj" fmla="val 2326"/>
            </a:avLst>
          </a:prstGeom>
          <a:solidFill>
            <a:srgbClr val="FFFFFF"/>
          </a:solidFill>
          <a:ln w="12700">
            <a:solidFill>
              <a:srgbClr val="DCE6E0"/>
            </a:solidFill>
            <a:prstDash val="solid"/>
          </a:ln>
        </p:spPr>
      </p:sp>
      <p:sp>
        <p:nvSpPr>
          <p:cNvPr id="6" name="Shape 4"/>
          <p:cNvSpPr/>
          <p:nvPr/>
        </p:nvSpPr>
        <p:spPr>
          <a:xfrm>
            <a:off x="731520" y="2148840"/>
            <a:ext cx="73152" cy="1965960"/>
          </a:xfrm>
          <a:prstGeom prst="rect">
            <a:avLst/>
          </a:prstGeom>
          <a:solidFill>
            <a:srgbClr val="103332"/>
          </a:solidFill>
          <a:ln w="12700">
            <a:solidFill>
              <a:srgbClr val="103332"/>
            </a:solidFill>
            <a:prstDash val="solid"/>
          </a:ln>
        </p:spPr>
      </p:sp>
      <p:sp>
        <p:nvSpPr>
          <p:cNvPr id="7" name="Text 5"/>
          <p:cNvSpPr/>
          <p:nvPr/>
        </p:nvSpPr>
        <p:spPr>
          <a:xfrm>
            <a:off x="960120" y="2377440"/>
            <a:ext cx="2880360" cy="274320"/>
          </a:xfrm>
          <a:prstGeom prst="rect">
            <a:avLst/>
          </a:prstGeom>
          <a:noFill/>
          <a:ln/>
        </p:spPr>
        <p:txBody>
          <a:bodyPr wrap="square" lIns="0" tIns="0" rIns="0" bIns="0" rtlCol="0" anchor="ctr"/>
          <a:lstStyle/>
          <a:p>
            <a:pPr indent="0" marL="0">
              <a:buNone/>
            </a:pPr>
            <a:r>
              <a:rPr lang="en-US" sz="1500" b="1" dirty="0">
                <a:solidFill>
                  <a:srgbClr val="172327"/>
                </a:solidFill>
              </a:rPr>
              <a:t>Developer inventory</a:t>
            </a:r>
            <a:endParaRPr lang="en-US" sz="1500" dirty="0"/>
          </a:p>
        </p:txBody>
      </p:sp>
      <p:sp>
        <p:nvSpPr>
          <p:cNvPr id="8" name="Text 6"/>
          <p:cNvSpPr/>
          <p:nvPr/>
        </p:nvSpPr>
        <p:spPr>
          <a:xfrm>
            <a:off x="960120" y="2788920"/>
            <a:ext cx="2880360" cy="1143000"/>
          </a:xfrm>
          <a:prstGeom prst="rect">
            <a:avLst/>
          </a:prstGeom>
          <a:noFill/>
          <a:ln/>
        </p:spPr>
        <p:txBody>
          <a:bodyPr wrap="square" lIns="0" tIns="0" rIns="0" bIns="0" rtlCol="0" anchor="ctr"/>
          <a:lstStyle/>
          <a:p>
            <a:pPr indent="0" marL="0">
              <a:buNone/>
            </a:pPr>
            <a:r>
              <a:rPr lang="en-US" sz="1100" dirty="0">
                <a:solidFill>
                  <a:srgbClr val="718080"/>
                </a:solidFill>
              </a:rPr>
              <a:t>What functionality exists?</a:t>
            </a:r>
            <a:endParaRPr lang="en-US" sz="1100" dirty="0"/>
          </a:p>
          <a:p>
            <a:pPr indent="0" marL="0">
              <a:buNone/>
            </a:pPr>
            <a:endParaRPr lang="en-US" sz="1100" dirty="0"/>
          </a:p>
          <a:p>
            <a:pPr indent="0" marL="0">
              <a:buNone/>
            </a:pPr>
            <a:r>
              <a:rPr lang="en-US" sz="1100" dirty="0">
                <a:solidFill>
                  <a:srgbClr val="718080"/>
                </a:solidFill>
              </a:rPr>
              <a:t>Modules, sub-modules, status, risk, and impact.</a:t>
            </a:r>
            <a:endParaRPr lang="en-US" sz="1100" dirty="0"/>
          </a:p>
        </p:txBody>
      </p:sp>
      <p:sp>
        <p:nvSpPr>
          <p:cNvPr id="9" name="Shape 7"/>
          <p:cNvSpPr/>
          <p:nvPr/>
        </p:nvSpPr>
        <p:spPr>
          <a:xfrm>
            <a:off x="4434840" y="2148840"/>
            <a:ext cx="3291840" cy="1965960"/>
          </a:xfrm>
          <a:prstGeom prst="roundRect">
            <a:avLst>
              <a:gd name="adj" fmla="val 2326"/>
            </a:avLst>
          </a:prstGeom>
          <a:solidFill>
            <a:srgbClr val="FFFFFF"/>
          </a:solidFill>
          <a:ln w="12700">
            <a:solidFill>
              <a:srgbClr val="DCE6E0"/>
            </a:solidFill>
            <a:prstDash val="solid"/>
          </a:ln>
        </p:spPr>
      </p:sp>
      <p:sp>
        <p:nvSpPr>
          <p:cNvPr id="10" name="Shape 8"/>
          <p:cNvSpPr/>
          <p:nvPr/>
        </p:nvSpPr>
        <p:spPr>
          <a:xfrm>
            <a:off x="4434840" y="2148840"/>
            <a:ext cx="73152" cy="1965960"/>
          </a:xfrm>
          <a:prstGeom prst="rect">
            <a:avLst/>
          </a:prstGeom>
          <a:solidFill>
            <a:srgbClr val="16A36C"/>
          </a:solidFill>
          <a:ln w="12700">
            <a:solidFill>
              <a:srgbClr val="16A36C"/>
            </a:solidFill>
            <a:prstDash val="solid"/>
          </a:ln>
        </p:spPr>
      </p:sp>
      <p:sp>
        <p:nvSpPr>
          <p:cNvPr id="11" name="Text 9"/>
          <p:cNvSpPr/>
          <p:nvPr/>
        </p:nvSpPr>
        <p:spPr>
          <a:xfrm>
            <a:off x="4663440" y="2377440"/>
            <a:ext cx="2880360" cy="274320"/>
          </a:xfrm>
          <a:prstGeom prst="rect">
            <a:avLst/>
          </a:prstGeom>
          <a:noFill/>
          <a:ln/>
        </p:spPr>
        <p:txBody>
          <a:bodyPr wrap="square" lIns="0" tIns="0" rIns="0" bIns="0" rtlCol="0" anchor="ctr"/>
          <a:lstStyle/>
          <a:p>
            <a:pPr indent="0" marL="0">
              <a:buNone/>
            </a:pPr>
            <a:r>
              <a:rPr lang="en-US" sz="1500" b="1" dirty="0">
                <a:solidFill>
                  <a:srgbClr val="172327"/>
                </a:solidFill>
              </a:rPr>
              <a:t>Execution evidence</a:t>
            </a:r>
            <a:endParaRPr lang="en-US" sz="1500" dirty="0"/>
          </a:p>
        </p:txBody>
      </p:sp>
      <p:sp>
        <p:nvSpPr>
          <p:cNvPr id="12" name="Text 10"/>
          <p:cNvSpPr/>
          <p:nvPr/>
        </p:nvSpPr>
        <p:spPr>
          <a:xfrm>
            <a:off x="4663440" y="2788920"/>
            <a:ext cx="2880360" cy="1143000"/>
          </a:xfrm>
          <a:prstGeom prst="rect">
            <a:avLst/>
          </a:prstGeom>
          <a:noFill/>
          <a:ln/>
        </p:spPr>
        <p:txBody>
          <a:bodyPr wrap="square" lIns="0" tIns="0" rIns="0" bIns="0" rtlCol="0" anchor="ctr"/>
          <a:lstStyle/>
          <a:p>
            <a:pPr indent="0" marL="0">
              <a:buNone/>
            </a:pPr>
            <a:r>
              <a:rPr lang="en-US" sz="1100" dirty="0">
                <a:solidFill>
                  <a:srgbClr val="718080"/>
                </a:solidFill>
              </a:rPr>
              <a:t>What was exercised?</a:t>
            </a:r>
            <a:endParaRPr lang="en-US" sz="1100" dirty="0"/>
          </a:p>
          <a:p>
            <a:pPr indent="0" marL="0">
              <a:buNone/>
            </a:pPr>
            <a:endParaRPr lang="en-US" sz="1100" dirty="0"/>
          </a:p>
          <a:p>
            <a:pPr indent="0" marL="0">
              <a:buNone/>
            </a:pPr>
            <a:r>
              <a:rPr lang="en-US" sz="1100" dirty="0">
                <a:solidFill>
                  <a:srgbClr val="718080"/>
                </a:solidFill>
              </a:rPr>
              <a:t>Manual actions, automation navigation, status, and duration.</a:t>
            </a:r>
            <a:endParaRPr lang="en-US" sz="1100" dirty="0"/>
          </a:p>
        </p:txBody>
      </p:sp>
      <p:sp>
        <p:nvSpPr>
          <p:cNvPr id="13" name="Shape 11"/>
          <p:cNvSpPr/>
          <p:nvPr/>
        </p:nvSpPr>
        <p:spPr>
          <a:xfrm>
            <a:off x="8138160" y="2148840"/>
            <a:ext cx="3291840" cy="1965960"/>
          </a:xfrm>
          <a:prstGeom prst="roundRect">
            <a:avLst>
              <a:gd name="adj" fmla="val 2326"/>
            </a:avLst>
          </a:prstGeom>
          <a:solidFill>
            <a:srgbClr val="FFFFFF"/>
          </a:solidFill>
          <a:ln w="12700">
            <a:solidFill>
              <a:srgbClr val="DCE6E0"/>
            </a:solidFill>
            <a:prstDash val="solid"/>
          </a:ln>
        </p:spPr>
      </p:sp>
      <p:sp>
        <p:nvSpPr>
          <p:cNvPr id="14" name="Shape 12"/>
          <p:cNvSpPr/>
          <p:nvPr/>
        </p:nvSpPr>
        <p:spPr>
          <a:xfrm>
            <a:off x="8138160" y="2148840"/>
            <a:ext cx="73152" cy="1965960"/>
          </a:xfrm>
          <a:prstGeom prst="rect">
            <a:avLst/>
          </a:prstGeom>
          <a:solidFill>
            <a:srgbClr val="D88B27"/>
          </a:solidFill>
          <a:ln w="12700">
            <a:solidFill>
              <a:srgbClr val="D88B27"/>
            </a:solidFill>
            <a:prstDash val="solid"/>
          </a:ln>
        </p:spPr>
      </p:sp>
      <p:sp>
        <p:nvSpPr>
          <p:cNvPr id="15" name="Text 13"/>
          <p:cNvSpPr/>
          <p:nvPr/>
        </p:nvSpPr>
        <p:spPr>
          <a:xfrm>
            <a:off x="8366760" y="2377440"/>
            <a:ext cx="2880360" cy="274320"/>
          </a:xfrm>
          <a:prstGeom prst="rect">
            <a:avLst/>
          </a:prstGeom>
          <a:noFill/>
          <a:ln/>
        </p:spPr>
        <p:txBody>
          <a:bodyPr wrap="square" lIns="0" tIns="0" rIns="0" bIns="0" rtlCol="0" anchor="ctr"/>
          <a:lstStyle/>
          <a:p>
            <a:pPr indent="0" marL="0">
              <a:buNone/>
            </a:pPr>
            <a:r>
              <a:rPr lang="en-US" sz="1500" b="1" dirty="0">
                <a:solidFill>
                  <a:srgbClr val="172327"/>
                </a:solidFill>
              </a:rPr>
              <a:t>Coverage insight</a:t>
            </a:r>
            <a:endParaRPr lang="en-US" sz="1500" dirty="0"/>
          </a:p>
        </p:txBody>
      </p:sp>
      <p:sp>
        <p:nvSpPr>
          <p:cNvPr id="16" name="Text 14"/>
          <p:cNvSpPr/>
          <p:nvPr/>
        </p:nvSpPr>
        <p:spPr>
          <a:xfrm>
            <a:off x="8366760" y="2788920"/>
            <a:ext cx="2880360" cy="1143000"/>
          </a:xfrm>
          <a:prstGeom prst="rect">
            <a:avLst/>
          </a:prstGeom>
          <a:noFill/>
          <a:ln/>
        </p:spPr>
        <p:txBody>
          <a:bodyPr wrap="square" lIns="0" tIns="0" rIns="0" bIns="0" rtlCol="0" anchor="ctr"/>
          <a:lstStyle/>
          <a:p>
            <a:pPr indent="0" marL="0">
              <a:buNone/>
            </a:pPr>
            <a:r>
              <a:rPr lang="en-US" sz="1100" dirty="0">
                <a:solidFill>
                  <a:srgbClr val="718080"/>
                </a:solidFill>
              </a:rPr>
              <a:t>What is the difference?</a:t>
            </a:r>
            <a:endParaRPr lang="en-US" sz="1100" dirty="0"/>
          </a:p>
          <a:p>
            <a:pPr indent="0" marL="0">
              <a:buNone/>
            </a:pPr>
            <a:endParaRPr lang="en-US" sz="1100" dirty="0"/>
          </a:p>
          <a:p>
            <a:pPr indent="0" marL="0">
              <a:buNone/>
            </a:pPr>
            <a:r>
              <a:rPr lang="en-US" sz="1100" dirty="0">
                <a:solidFill>
                  <a:srgbClr val="718080"/>
                </a:solidFill>
              </a:rPr>
              <a:t>Missed functionality, risk, business impact, and recommendations.</a:t>
            </a:r>
            <a:endParaRPr lang="en-US" sz="1100" dirty="0"/>
          </a:p>
        </p:txBody>
      </p:sp>
      <p:sp>
        <p:nvSpPr>
          <p:cNvPr id="17" name="Text 15"/>
          <p:cNvSpPr/>
          <p:nvPr/>
        </p:nvSpPr>
        <p:spPr>
          <a:xfrm>
            <a:off x="914400" y="4892040"/>
            <a:ext cx="10332720" cy="320040"/>
          </a:xfrm>
          <a:prstGeom prst="rect">
            <a:avLst/>
          </a:prstGeom>
          <a:noFill/>
          <a:ln/>
        </p:spPr>
        <p:txBody>
          <a:bodyPr wrap="square" lIns="0" tIns="0" rIns="0" bIns="0" rtlCol="0" anchor="ctr"/>
          <a:lstStyle/>
          <a:p>
            <a:pPr algn="ctr" indent="0" marL="0">
              <a:buNone/>
            </a:pPr>
            <a:r>
              <a:rPr lang="en-US" sz="1400" b="1" dirty="0">
                <a:solidFill>
                  <a:srgbClr val="103332"/>
                </a:solidFill>
              </a:rPr>
              <a:t>Coverage % = Covered / Implemented × 100     |     Test Gap % = Missed / Implemented × 100</a:t>
            </a:r>
            <a:endParaRPr lang="en-US" sz="14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05 / ARCHITECTURE</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JSON-first prototype, plugin-ready boundaries</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demo avoids database setup while keeping data external to the application logic.</a:t>
            </a:r>
            <a:endParaRPr lang="en-US" sz="1200" dirty="0"/>
          </a:p>
        </p:txBody>
      </p:sp>
      <p:sp>
        <p:nvSpPr>
          <p:cNvPr id="5" name="Text 3"/>
          <p:cNvSpPr/>
          <p:nvPr/>
        </p:nvSpPr>
        <p:spPr>
          <a:xfrm>
            <a:off x="822960" y="1920240"/>
            <a:ext cx="5760720" cy="3474720"/>
          </a:xfrm>
          <a:prstGeom prst="rect">
            <a:avLst/>
          </a:prstGeom>
          <a:noFill/>
          <a:ln/>
        </p:spPr>
        <p:txBody>
          <a:bodyPr wrap="square" lIns="254" tIns="254" rIns="254" bIns="254" rtlCol="0" anchor="ctr"/>
          <a:lstStyle/>
          <a:p>
            <a:pPr marL="190500" indent="-190500">
              <a:buSzPct val="100000"/>
              <a:buChar char="•"/>
            </a:pPr>
            <a:r>
              <a:rPr lang="en-US" sz="1500" dirty="0">
                <a:solidFill>
                  <a:srgbClr val="172327"/>
                </a:solidFill>
              </a:rPr>
              <a:t>.NET API exposes authentication, inventory, runs, summaries, and recovery.</a:t>
            </a:r>
            <a:endParaRPr lang="en-US" sz="1500" dirty="0"/>
          </a:p>
          <a:p>
            <a:pPr marL="190500" indent="-190500">
              <a:buSzPct val="100000"/>
              <a:buChar char="•"/>
            </a:pPr>
            <a:r>
              <a:rPr lang="en-US" sz="1500" dirty="0">
                <a:solidFill>
                  <a:srgbClr val="172327"/>
                </a:solidFill>
              </a:rPr>
              <a:t>React provides the banking workspace and unified dashboard.</a:t>
            </a:r>
            <a:endParaRPr lang="en-US" sz="1500" dirty="0"/>
          </a:p>
          <a:p>
            <a:pPr marL="190500" indent="-190500">
              <a:buSzPct val="100000"/>
              <a:buChar char="•"/>
            </a:pPr>
            <a:r>
              <a:rPr lang="en-US" sz="1500" dirty="0">
                <a:solidFill>
                  <a:srgbClr val="172327"/>
                </a:solidFill>
              </a:rPr>
              <a:t>JSON files hold users, modules, execution runs, configuration, test data, locators, XPath, and recovery.</a:t>
            </a:r>
            <a:endParaRPr lang="en-US" sz="1500" dirty="0"/>
          </a:p>
          <a:p>
            <a:pPr marL="190500" indent="-190500">
              <a:buSzPct val="100000"/>
              <a:buChar char="•"/>
            </a:pPr>
            <a:r>
              <a:rPr lang="en-US" sz="1500" dirty="0">
                <a:solidFill>
                  <a:srgbClr val="172327"/>
                </a:solidFill>
              </a:rPr>
              <a:t>The capture boundary can later be connected to Playwright or Selenium.</a:t>
            </a:r>
            <a:endParaRPr lang="en-US" sz="1500" dirty="0"/>
          </a:p>
        </p:txBody>
      </p:sp>
      <p:sp>
        <p:nvSpPr>
          <p:cNvPr id="6" name="Shape 4"/>
          <p:cNvSpPr/>
          <p:nvPr/>
        </p:nvSpPr>
        <p:spPr>
          <a:xfrm>
            <a:off x="7360920" y="1874520"/>
            <a:ext cx="3977640" cy="3474720"/>
          </a:xfrm>
          <a:prstGeom prst="roundRect">
            <a:avLst>
              <a:gd name="adj" fmla="val 1316"/>
            </a:avLst>
          </a:prstGeom>
          <a:solidFill>
            <a:srgbClr val="FFFFFF"/>
          </a:solidFill>
          <a:ln w="12700">
            <a:solidFill>
              <a:srgbClr val="DCE6E0"/>
            </a:solidFill>
            <a:prstDash val="solid"/>
          </a:ln>
        </p:spPr>
      </p:sp>
      <p:sp>
        <p:nvSpPr>
          <p:cNvPr id="7" name="Shape 5"/>
          <p:cNvSpPr/>
          <p:nvPr/>
        </p:nvSpPr>
        <p:spPr>
          <a:xfrm>
            <a:off x="7360920" y="1874520"/>
            <a:ext cx="73152" cy="3474720"/>
          </a:xfrm>
          <a:prstGeom prst="rect">
            <a:avLst/>
          </a:prstGeom>
          <a:solidFill>
            <a:srgbClr val="16A36C"/>
          </a:solidFill>
          <a:ln w="12700">
            <a:solidFill>
              <a:srgbClr val="16A36C"/>
            </a:solidFill>
            <a:prstDash val="solid"/>
          </a:ln>
        </p:spPr>
      </p:sp>
      <p:sp>
        <p:nvSpPr>
          <p:cNvPr id="8" name="Text 6"/>
          <p:cNvSpPr/>
          <p:nvPr/>
        </p:nvSpPr>
        <p:spPr>
          <a:xfrm>
            <a:off x="7589520" y="2103120"/>
            <a:ext cx="3566160" cy="274320"/>
          </a:xfrm>
          <a:prstGeom prst="rect">
            <a:avLst/>
          </a:prstGeom>
          <a:noFill/>
          <a:ln/>
        </p:spPr>
        <p:txBody>
          <a:bodyPr wrap="square" lIns="0" tIns="0" rIns="0" bIns="0" rtlCol="0" anchor="ctr"/>
          <a:lstStyle/>
          <a:p>
            <a:pPr indent="0" marL="0">
              <a:buNone/>
            </a:pPr>
            <a:r>
              <a:rPr lang="en-US" sz="1500" b="1" dirty="0">
                <a:solidFill>
                  <a:srgbClr val="172327"/>
                </a:solidFill>
              </a:rPr>
              <a:t>Data boundary</a:t>
            </a:r>
            <a:endParaRPr lang="en-US" sz="1500" dirty="0"/>
          </a:p>
        </p:txBody>
      </p:sp>
      <p:sp>
        <p:nvSpPr>
          <p:cNvPr id="9" name="Text 7"/>
          <p:cNvSpPr/>
          <p:nvPr/>
        </p:nvSpPr>
        <p:spPr>
          <a:xfrm>
            <a:off x="7589520" y="2514600"/>
            <a:ext cx="3566160" cy="2651760"/>
          </a:xfrm>
          <a:prstGeom prst="rect">
            <a:avLst/>
          </a:prstGeom>
          <a:noFill/>
          <a:ln/>
        </p:spPr>
        <p:txBody>
          <a:bodyPr wrap="square" lIns="0" tIns="0" rIns="0" bIns="0" rtlCol="0" anchor="ctr"/>
          <a:lstStyle/>
          <a:p>
            <a:pPr indent="0" marL="0">
              <a:buNone/>
            </a:pPr>
            <a:r>
              <a:rPr lang="en-US" sz="1100" dirty="0">
                <a:solidFill>
                  <a:srgbClr val="718080"/>
                </a:solidFill>
              </a:rPr>
              <a:t>users.json</a:t>
            </a:r>
            <a:endParaRPr lang="en-US" sz="1100" dirty="0"/>
          </a:p>
          <a:p>
            <a:pPr indent="0" marL="0">
              <a:buNone/>
            </a:pPr>
            <a:r>
              <a:rPr lang="en-US" sz="1100" dirty="0">
                <a:solidFill>
                  <a:srgbClr val="718080"/>
                </a:solidFill>
              </a:rPr>
              <a:t>modules.json</a:t>
            </a:r>
            <a:endParaRPr lang="en-US" sz="1100" dirty="0"/>
          </a:p>
          <a:p>
            <a:pPr indent="0" marL="0">
              <a:buNone/>
            </a:pPr>
            <a:r>
              <a:rPr lang="en-US" sz="1100" dirty="0">
                <a:solidFill>
                  <a:srgbClr val="718080"/>
                </a:solidFill>
              </a:rPr>
              <a:t>runs.json</a:t>
            </a:r>
            <a:endParaRPr lang="en-US" sz="1100" dirty="0"/>
          </a:p>
          <a:p>
            <a:pPr indent="0" marL="0">
              <a:buNone/>
            </a:pPr>
            <a:r>
              <a:rPr lang="en-US" sz="1100" dirty="0">
                <a:solidFill>
                  <a:srgbClr val="718080"/>
                </a:solidFill>
              </a:rPr>
              <a:t>recovery-state.json</a:t>
            </a:r>
            <a:endParaRPr lang="en-US" sz="1100" dirty="0"/>
          </a:p>
          <a:p>
            <a:pPr indent="0" marL="0">
              <a:buNone/>
            </a:pPr>
            <a:r>
              <a:rPr lang="en-US" sz="1100" dirty="0">
                <a:solidFill>
                  <a:srgbClr val="718080"/>
                </a:solidFill>
              </a:rPr>
              <a:t>automation-config.json</a:t>
            </a:r>
            <a:endParaRPr lang="en-US" sz="1100" dirty="0"/>
          </a:p>
          <a:p>
            <a:pPr indent="0" marL="0">
              <a:buNone/>
            </a:pPr>
            <a:r>
              <a:rPr lang="en-US" sz="1100" dirty="0">
                <a:solidFill>
                  <a:srgbClr val="718080"/>
                </a:solidFill>
              </a:rPr>
              <a:t>test-data.json</a:t>
            </a:r>
            <a:endParaRPr lang="en-US" sz="1100" dirty="0"/>
          </a:p>
          <a:p>
            <a:pPr indent="0" marL="0">
              <a:buNone/>
            </a:pPr>
            <a:r>
              <a:rPr lang="en-US" sz="1100" dirty="0">
                <a:solidFill>
                  <a:srgbClr val="718080"/>
                </a:solidFill>
              </a:rPr>
              <a:t>locators.json</a:t>
            </a:r>
            <a:endParaRPr lang="en-US" sz="1100" dirty="0"/>
          </a:p>
          <a:p>
            <a:pPr indent="0" marL="0">
              <a:buNone/>
            </a:pPr>
            <a:r>
              <a:rPr lang="en-US" sz="1100" dirty="0">
                <a:solidFill>
                  <a:srgbClr val="718080"/>
                </a:solidFill>
              </a:rPr>
              <a:t>xpath-repository.json</a:t>
            </a:r>
            <a:endParaRPr lang="en-US" sz="11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06 / WALKTHROUGH</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The demo in seven steps</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A short path from sign-in to recovery evidence.</a:t>
            </a:r>
            <a:endParaRPr lang="en-US" sz="1200" dirty="0"/>
          </a:p>
        </p:txBody>
      </p:sp>
      <p:sp>
        <p:nvSpPr>
          <p:cNvPr id="5" name="Shape 3"/>
          <p:cNvSpPr/>
          <p:nvPr/>
        </p:nvSpPr>
        <p:spPr>
          <a:xfrm>
            <a:off x="914400" y="1874520"/>
            <a:ext cx="347472" cy="347472"/>
          </a:xfrm>
          <a:prstGeom prst="ellipse">
            <a:avLst/>
          </a:prstGeom>
          <a:solidFill>
            <a:srgbClr val="103332"/>
          </a:solidFill>
          <a:ln w="12700">
            <a:solidFill>
              <a:srgbClr val="103332"/>
            </a:solidFill>
            <a:prstDash val="solid"/>
          </a:ln>
        </p:spPr>
      </p:sp>
      <p:sp>
        <p:nvSpPr>
          <p:cNvPr id="6" name="Text 4"/>
          <p:cNvSpPr/>
          <p:nvPr/>
        </p:nvSpPr>
        <p:spPr>
          <a:xfrm>
            <a:off x="914400" y="195681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7" name="Text 5"/>
          <p:cNvSpPr/>
          <p:nvPr/>
        </p:nvSpPr>
        <p:spPr>
          <a:xfrm>
            <a:off x="1444752" y="194767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Sign in</a:t>
            </a:r>
            <a:endParaRPr lang="en-US" sz="1500" dirty="0"/>
          </a:p>
        </p:txBody>
      </p:sp>
      <p:sp>
        <p:nvSpPr>
          <p:cNvPr id="8" name="Shape 6"/>
          <p:cNvSpPr/>
          <p:nvPr/>
        </p:nvSpPr>
        <p:spPr>
          <a:xfrm>
            <a:off x="6446520" y="1874520"/>
            <a:ext cx="347472" cy="347472"/>
          </a:xfrm>
          <a:prstGeom prst="ellipse">
            <a:avLst/>
          </a:prstGeom>
          <a:solidFill>
            <a:srgbClr val="103332"/>
          </a:solidFill>
          <a:ln w="12700">
            <a:solidFill>
              <a:srgbClr val="103332"/>
            </a:solidFill>
            <a:prstDash val="solid"/>
          </a:ln>
        </p:spPr>
      </p:sp>
      <p:sp>
        <p:nvSpPr>
          <p:cNvPr id="9" name="Text 7"/>
          <p:cNvSpPr/>
          <p:nvPr/>
        </p:nvSpPr>
        <p:spPr>
          <a:xfrm>
            <a:off x="6446520" y="195681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0" name="Text 8"/>
          <p:cNvSpPr/>
          <p:nvPr/>
        </p:nvSpPr>
        <p:spPr>
          <a:xfrm>
            <a:off x="6976872" y="194767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Review dashboard</a:t>
            </a:r>
            <a:endParaRPr lang="en-US" sz="1500" dirty="0"/>
          </a:p>
        </p:txBody>
      </p:sp>
      <p:sp>
        <p:nvSpPr>
          <p:cNvPr id="11" name="Shape 9"/>
          <p:cNvSpPr/>
          <p:nvPr/>
        </p:nvSpPr>
        <p:spPr>
          <a:xfrm>
            <a:off x="914400" y="2743200"/>
            <a:ext cx="347472" cy="347472"/>
          </a:xfrm>
          <a:prstGeom prst="ellipse">
            <a:avLst/>
          </a:prstGeom>
          <a:solidFill>
            <a:srgbClr val="103332"/>
          </a:solidFill>
          <a:ln w="12700">
            <a:solidFill>
              <a:srgbClr val="103332"/>
            </a:solidFill>
            <a:prstDash val="solid"/>
          </a:ln>
        </p:spPr>
      </p:sp>
      <p:sp>
        <p:nvSpPr>
          <p:cNvPr id="12" name="Text 10"/>
          <p:cNvSpPr/>
          <p:nvPr/>
        </p:nvSpPr>
        <p:spPr>
          <a:xfrm>
            <a:off x="914400" y="282549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3" name="Text 11"/>
          <p:cNvSpPr/>
          <p:nvPr/>
        </p:nvSpPr>
        <p:spPr>
          <a:xfrm>
            <a:off x="1444752" y="281635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Open modules</a:t>
            </a:r>
            <a:endParaRPr lang="en-US" sz="1500" dirty="0"/>
          </a:p>
        </p:txBody>
      </p:sp>
      <p:sp>
        <p:nvSpPr>
          <p:cNvPr id="14" name="Shape 12"/>
          <p:cNvSpPr/>
          <p:nvPr/>
        </p:nvSpPr>
        <p:spPr>
          <a:xfrm>
            <a:off x="6446520" y="2743200"/>
            <a:ext cx="347472" cy="347472"/>
          </a:xfrm>
          <a:prstGeom prst="ellipse">
            <a:avLst/>
          </a:prstGeom>
          <a:solidFill>
            <a:srgbClr val="103332"/>
          </a:solidFill>
          <a:ln w="12700">
            <a:solidFill>
              <a:srgbClr val="103332"/>
            </a:solidFill>
            <a:prstDash val="solid"/>
          </a:ln>
        </p:spPr>
      </p:sp>
      <p:sp>
        <p:nvSpPr>
          <p:cNvPr id="15" name="Text 13"/>
          <p:cNvSpPr/>
          <p:nvPr/>
        </p:nvSpPr>
        <p:spPr>
          <a:xfrm>
            <a:off x="6446520" y="282549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16" name="Text 14"/>
          <p:cNvSpPr/>
          <p:nvPr/>
        </p:nvSpPr>
        <p:spPr>
          <a:xfrm>
            <a:off x="6976872" y="281635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Inspect disabled Disputes</a:t>
            </a:r>
            <a:endParaRPr lang="en-US" sz="1500" dirty="0"/>
          </a:p>
        </p:txBody>
      </p:sp>
      <p:sp>
        <p:nvSpPr>
          <p:cNvPr id="17" name="Shape 15"/>
          <p:cNvSpPr/>
          <p:nvPr/>
        </p:nvSpPr>
        <p:spPr>
          <a:xfrm>
            <a:off x="914400" y="3611880"/>
            <a:ext cx="347472" cy="347472"/>
          </a:xfrm>
          <a:prstGeom prst="ellipse">
            <a:avLst/>
          </a:prstGeom>
          <a:solidFill>
            <a:srgbClr val="103332"/>
          </a:solidFill>
          <a:ln w="12700">
            <a:solidFill>
              <a:srgbClr val="103332"/>
            </a:solidFill>
            <a:prstDash val="solid"/>
          </a:ln>
        </p:spPr>
      </p:sp>
      <p:sp>
        <p:nvSpPr>
          <p:cNvPr id="18" name="Text 16"/>
          <p:cNvSpPr/>
          <p:nvPr/>
        </p:nvSpPr>
        <p:spPr>
          <a:xfrm>
            <a:off x="914400" y="369417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19" name="Text 17"/>
          <p:cNvSpPr/>
          <p:nvPr/>
        </p:nvSpPr>
        <p:spPr>
          <a:xfrm>
            <a:off x="1444752" y="368503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Start automation capture</a:t>
            </a:r>
            <a:endParaRPr lang="en-US" sz="1500" dirty="0"/>
          </a:p>
        </p:txBody>
      </p:sp>
      <p:sp>
        <p:nvSpPr>
          <p:cNvPr id="20" name="Shape 18"/>
          <p:cNvSpPr/>
          <p:nvPr/>
        </p:nvSpPr>
        <p:spPr>
          <a:xfrm>
            <a:off x="6446520" y="3611880"/>
            <a:ext cx="347472" cy="347472"/>
          </a:xfrm>
          <a:prstGeom prst="ellipse">
            <a:avLst/>
          </a:prstGeom>
          <a:solidFill>
            <a:srgbClr val="103332"/>
          </a:solidFill>
          <a:ln w="12700">
            <a:solidFill>
              <a:srgbClr val="103332"/>
            </a:solidFill>
            <a:prstDash val="solid"/>
          </a:ln>
        </p:spPr>
      </p:sp>
      <p:sp>
        <p:nvSpPr>
          <p:cNvPr id="21" name="Text 19"/>
          <p:cNvSpPr/>
          <p:nvPr/>
        </p:nvSpPr>
        <p:spPr>
          <a:xfrm>
            <a:off x="6446520" y="369417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6</a:t>
            </a:r>
            <a:endParaRPr lang="en-US" sz="900" dirty="0"/>
          </a:p>
        </p:txBody>
      </p:sp>
      <p:sp>
        <p:nvSpPr>
          <p:cNvPr id="22" name="Text 20"/>
          <p:cNvSpPr/>
          <p:nvPr/>
        </p:nvSpPr>
        <p:spPr>
          <a:xfrm>
            <a:off x="6976872" y="368503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Review execution history</a:t>
            </a:r>
            <a:endParaRPr lang="en-US" sz="1500" dirty="0"/>
          </a:p>
        </p:txBody>
      </p:sp>
      <p:sp>
        <p:nvSpPr>
          <p:cNvPr id="23" name="Shape 21"/>
          <p:cNvSpPr/>
          <p:nvPr/>
        </p:nvSpPr>
        <p:spPr>
          <a:xfrm>
            <a:off x="914400" y="4480560"/>
            <a:ext cx="347472" cy="347472"/>
          </a:xfrm>
          <a:prstGeom prst="ellipse">
            <a:avLst/>
          </a:prstGeom>
          <a:solidFill>
            <a:srgbClr val="103332"/>
          </a:solidFill>
          <a:ln w="12700">
            <a:solidFill>
              <a:srgbClr val="103332"/>
            </a:solidFill>
            <a:prstDash val="solid"/>
          </a:ln>
        </p:spPr>
      </p:sp>
      <p:sp>
        <p:nvSpPr>
          <p:cNvPr id="24" name="Text 22"/>
          <p:cNvSpPr/>
          <p:nvPr/>
        </p:nvSpPr>
        <p:spPr>
          <a:xfrm>
            <a:off x="914400" y="456285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7</a:t>
            </a:r>
            <a:endParaRPr lang="en-US" sz="900" dirty="0"/>
          </a:p>
        </p:txBody>
      </p:sp>
      <p:sp>
        <p:nvSpPr>
          <p:cNvPr id="25" name="Text 23"/>
          <p:cNvSpPr/>
          <p:nvPr/>
        </p:nvSpPr>
        <p:spPr>
          <a:xfrm>
            <a:off x="1444752" y="455371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Refresh and recover</a:t>
            </a:r>
            <a:endParaRPr lang="en-US" sz="15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07 / DASHBOARD</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From execution result to business signal</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command center makes quality completeness visible.</a:t>
            </a:r>
            <a:endParaRPr lang="en-US" sz="1200" dirty="0"/>
          </a:p>
        </p:txBody>
      </p:sp>
      <p:sp>
        <p:nvSpPr>
          <p:cNvPr id="5" name="Shape 3"/>
          <p:cNvSpPr/>
          <p:nvPr/>
        </p:nvSpPr>
        <p:spPr>
          <a:xfrm>
            <a:off x="822960" y="1965960"/>
            <a:ext cx="2423160" cy="1234440"/>
          </a:xfrm>
          <a:prstGeom prst="roundRect">
            <a:avLst>
              <a:gd name="adj" fmla="val 2963"/>
            </a:avLst>
          </a:prstGeom>
          <a:solidFill>
            <a:srgbClr val="FFFFFF"/>
          </a:solidFill>
          <a:ln w="12700">
            <a:solidFill>
              <a:srgbClr val="DCE6E0"/>
            </a:solidFill>
            <a:prstDash val="solid"/>
          </a:ln>
        </p:spPr>
      </p:sp>
      <p:sp>
        <p:nvSpPr>
          <p:cNvPr id="6" name="Text 4"/>
          <p:cNvSpPr/>
          <p:nvPr/>
        </p:nvSpPr>
        <p:spPr>
          <a:xfrm>
            <a:off x="822960" y="2240280"/>
            <a:ext cx="2423160" cy="347472"/>
          </a:xfrm>
          <a:prstGeom prst="rect">
            <a:avLst/>
          </a:prstGeom>
          <a:noFill/>
          <a:ln/>
        </p:spPr>
        <p:txBody>
          <a:bodyPr wrap="square" lIns="0" tIns="0" rIns="0" bIns="0" rtlCol="0" anchor="ctr"/>
          <a:lstStyle/>
          <a:p>
            <a:pPr algn="ctr" indent="0" marL="0">
              <a:buNone/>
            </a:pPr>
            <a:r>
              <a:rPr lang="en-US" sz="2500" b="1" dirty="0">
                <a:solidFill>
                  <a:srgbClr val="16A36C"/>
                </a:solidFill>
              </a:rPr>
              <a:t>89%</a:t>
            </a:r>
            <a:endParaRPr lang="en-US" sz="2500" dirty="0"/>
          </a:p>
        </p:txBody>
      </p:sp>
      <p:sp>
        <p:nvSpPr>
          <p:cNvPr id="7" name="Text 5"/>
          <p:cNvSpPr/>
          <p:nvPr/>
        </p:nvSpPr>
        <p:spPr>
          <a:xfrm>
            <a:off x="822960" y="2761488"/>
            <a:ext cx="2423160" cy="146304"/>
          </a:xfrm>
          <a:prstGeom prst="rect">
            <a:avLst/>
          </a:prstGeom>
          <a:noFill/>
          <a:ln/>
        </p:spPr>
        <p:txBody>
          <a:bodyPr wrap="square" lIns="0" tIns="0" rIns="0" bIns="0" rtlCol="0" anchor="ctr"/>
          <a:lstStyle/>
          <a:p>
            <a:pPr algn="ctr" indent="0" marL="0">
              <a:buNone/>
            </a:pPr>
            <a:r>
              <a:rPr lang="en-US" sz="800" b="1" spc="100" kern="0" dirty="0">
                <a:solidFill>
                  <a:srgbClr val="718080"/>
                </a:solidFill>
              </a:rPr>
              <a:t>COVERAGE</a:t>
            </a:r>
            <a:endParaRPr lang="en-US" sz="800" dirty="0"/>
          </a:p>
        </p:txBody>
      </p:sp>
      <p:sp>
        <p:nvSpPr>
          <p:cNvPr id="8" name="Shape 6"/>
          <p:cNvSpPr/>
          <p:nvPr/>
        </p:nvSpPr>
        <p:spPr>
          <a:xfrm>
            <a:off x="3611880" y="1965960"/>
            <a:ext cx="2423160" cy="1234440"/>
          </a:xfrm>
          <a:prstGeom prst="roundRect">
            <a:avLst>
              <a:gd name="adj" fmla="val 2963"/>
            </a:avLst>
          </a:prstGeom>
          <a:solidFill>
            <a:srgbClr val="FFFFFF"/>
          </a:solidFill>
          <a:ln w="12700">
            <a:solidFill>
              <a:srgbClr val="DCE6E0"/>
            </a:solidFill>
            <a:prstDash val="solid"/>
          </a:ln>
        </p:spPr>
      </p:sp>
      <p:sp>
        <p:nvSpPr>
          <p:cNvPr id="9" name="Text 7"/>
          <p:cNvSpPr/>
          <p:nvPr/>
        </p:nvSpPr>
        <p:spPr>
          <a:xfrm>
            <a:off x="3611880" y="2240280"/>
            <a:ext cx="2423160" cy="347472"/>
          </a:xfrm>
          <a:prstGeom prst="rect">
            <a:avLst/>
          </a:prstGeom>
          <a:noFill/>
          <a:ln/>
        </p:spPr>
        <p:txBody>
          <a:bodyPr wrap="square" lIns="0" tIns="0" rIns="0" bIns="0" rtlCol="0" anchor="ctr"/>
          <a:lstStyle/>
          <a:p>
            <a:pPr algn="ctr" indent="0" marL="0">
              <a:buNone/>
            </a:pPr>
            <a:r>
              <a:rPr lang="en-US" sz="2500" b="1" dirty="0">
                <a:solidFill>
                  <a:srgbClr val="D88B27"/>
                </a:solidFill>
              </a:rPr>
              <a:t>11%</a:t>
            </a:r>
            <a:endParaRPr lang="en-US" sz="2500" dirty="0"/>
          </a:p>
        </p:txBody>
      </p:sp>
      <p:sp>
        <p:nvSpPr>
          <p:cNvPr id="10" name="Text 8"/>
          <p:cNvSpPr/>
          <p:nvPr/>
        </p:nvSpPr>
        <p:spPr>
          <a:xfrm>
            <a:off x="3611880" y="2761488"/>
            <a:ext cx="2423160" cy="146304"/>
          </a:xfrm>
          <a:prstGeom prst="rect">
            <a:avLst/>
          </a:prstGeom>
          <a:noFill/>
          <a:ln/>
        </p:spPr>
        <p:txBody>
          <a:bodyPr wrap="square" lIns="0" tIns="0" rIns="0" bIns="0" rtlCol="0" anchor="ctr"/>
          <a:lstStyle/>
          <a:p>
            <a:pPr algn="ctr" indent="0" marL="0">
              <a:buNone/>
            </a:pPr>
            <a:r>
              <a:rPr lang="en-US" sz="800" b="1" spc="100" kern="0" dirty="0">
                <a:solidFill>
                  <a:srgbClr val="718080"/>
                </a:solidFill>
              </a:rPr>
              <a:t>TEST GAP</a:t>
            </a:r>
            <a:endParaRPr lang="en-US" sz="800" dirty="0"/>
          </a:p>
        </p:txBody>
      </p:sp>
      <p:sp>
        <p:nvSpPr>
          <p:cNvPr id="11" name="Shape 9"/>
          <p:cNvSpPr/>
          <p:nvPr/>
        </p:nvSpPr>
        <p:spPr>
          <a:xfrm>
            <a:off x="6400800" y="1965960"/>
            <a:ext cx="2423160" cy="1234440"/>
          </a:xfrm>
          <a:prstGeom prst="roundRect">
            <a:avLst>
              <a:gd name="adj" fmla="val 2963"/>
            </a:avLst>
          </a:prstGeom>
          <a:solidFill>
            <a:srgbClr val="FFFFFF"/>
          </a:solidFill>
          <a:ln w="12700">
            <a:solidFill>
              <a:srgbClr val="DCE6E0"/>
            </a:solidFill>
            <a:prstDash val="solid"/>
          </a:ln>
        </p:spPr>
      </p:sp>
      <p:sp>
        <p:nvSpPr>
          <p:cNvPr id="12" name="Text 10"/>
          <p:cNvSpPr/>
          <p:nvPr/>
        </p:nvSpPr>
        <p:spPr>
          <a:xfrm>
            <a:off x="6400800" y="2240280"/>
            <a:ext cx="2423160" cy="347472"/>
          </a:xfrm>
          <a:prstGeom prst="rect">
            <a:avLst/>
          </a:prstGeom>
          <a:noFill/>
          <a:ln/>
        </p:spPr>
        <p:txBody>
          <a:bodyPr wrap="square" lIns="0" tIns="0" rIns="0" bIns="0" rtlCol="0" anchor="ctr"/>
          <a:lstStyle/>
          <a:p>
            <a:pPr algn="ctr" indent="0" marL="0">
              <a:buNone/>
            </a:pPr>
            <a:r>
              <a:rPr lang="en-US" sz="2500" b="1" dirty="0">
                <a:solidFill>
                  <a:srgbClr val="16A36C"/>
                </a:solidFill>
              </a:rPr>
              <a:t>8</a:t>
            </a:r>
            <a:endParaRPr lang="en-US" sz="2500" dirty="0"/>
          </a:p>
        </p:txBody>
      </p:sp>
      <p:sp>
        <p:nvSpPr>
          <p:cNvPr id="13" name="Text 11"/>
          <p:cNvSpPr/>
          <p:nvPr/>
        </p:nvSpPr>
        <p:spPr>
          <a:xfrm>
            <a:off x="6400800" y="2761488"/>
            <a:ext cx="2423160" cy="146304"/>
          </a:xfrm>
          <a:prstGeom prst="rect">
            <a:avLst/>
          </a:prstGeom>
          <a:noFill/>
          <a:ln/>
        </p:spPr>
        <p:txBody>
          <a:bodyPr wrap="square" lIns="0" tIns="0" rIns="0" bIns="0" rtlCol="0" anchor="ctr"/>
          <a:lstStyle/>
          <a:p>
            <a:pPr algn="ctr" indent="0" marL="0">
              <a:buNone/>
            </a:pPr>
            <a:r>
              <a:rPr lang="en-US" sz="800" b="1" spc="100" kern="0" dirty="0">
                <a:solidFill>
                  <a:srgbClr val="718080"/>
                </a:solidFill>
              </a:rPr>
              <a:t>COVERED</a:t>
            </a:r>
            <a:endParaRPr lang="en-US" sz="800" dirty="0"/>
          </a:p>
        </p:txBody>
      </p:sp>
      <p:sp>
        <p:nvSpPr>
          <p:cNvPr id="14" name="Shape 12"/>
          <p:cNvSpPr/>
          <p:nvPr/>
        </p:nvSpPr>
        <p:spPr>
          <a:xfrm>
            <a:off x="9189720" y="1965960"/>
            <a:ext cx="2423160" cy="1234440"/>
          </a:xfrm>
          <a:prstGeom prst="roundRect">
            <a:avLst>
              <a:gd name="adj" fmla="val 2963"/>
            </a:avLst>
          </a:prstGeom>
          <a:solidFill>
            <a:srgbClr val="FFFFFF"/>
          </a:solidFill>
          <a:ln w="12700">
            <a:solidFill>
              <a:srgbClr val="DCE6E0"/>
            </a:solidFill>
            <a:prstDash val="solid"/>
          </a:ln>
        </p:spPr>
      </p:sp>
      <p:sp>
        <p:nvSpPr>
          <p:cNvPr id="15" name="Text 13"/>
          <p:cNvSpPr/>
          <p:nvPr/>
        </p:nvSpPr>
        <p:spPr>
          <a:xfrm>
            <a:off x="9189720" y="2240280"/>
            <a:ext cx="2423160" cy="347472"/>
          </a:xfrm>
          <a:prstGeom prst="rect">
            <a:avLst/>
          </a:prstGeom>
          <a:noFill/>
          <a:ln/>
        </p:spPr>
        <p:txBody>
          <a:bodyPr wrap="square" lIns="0" tIns="0" rIns="0" bIns="0" rtlCol="0" anchor="ctr"/>
          <a:lstStyle/>
          <a:p>
            <a:pPr algn="ctr" indent="0" marL="0">
              <a:buNone/>
            </a:pPr>
            <a:r>
              <a:rPr lang="en-US" sz="2500" b="1" dirty="0">
                <a:solidFill>
                  <a:srgbClr val="D88B27"/>
                </a:solidFill>
              </a:rPr>
              <a:t>1</a:t>
            </a:r>
            <a:endParaRPr lang="en-US" sz="2500" dirty="0"/>
          </a:p>
        </p:txBody>
      </p:sp>
      <p:sp>
        <p:nvSpPr>
          <p:cNvPr id="16" name="Text 14"/>
          <p:cNvSpPr/>
          <p:nvPr/>
        </p:nvSpPr>
        <p:spPr>
          <a:xfrm>
            <a:off x="9189720" y="2761488"/>
            <a:ext cx="2423160" cy="146304"/>
          </a:xfrm>
          <a:prstGeom prst="rect">
            <a:avLst/>
          </a:prstGeom>
          <a:noFill/>
          <a:ln/>
        </p:spPr>
        <p:txBody>
          <a:bodyPr wrap="square" lIns="0" tIns="0" rIns="0" bIns="0" rtlCol="0" anchor="ctr"/>
          <a:lstStyle/>
          <a:p>
            <a:pPr algn="ctr" indent="0" marL="0">
              <a:buNone/>
            </a:pPr>
            <a:r>
              <a:rPr lang="en-US" sz="800" b="1" spc="100" kern="0" dirty="0">
                <a:solidFill>
                  <a:srgbClr val="718080"/>
                </a:solidFill>
              </a:rPr>
              <a:t>MISSED</a:t>
            </a:r>
            <a:endParaRPr lang="en-US" sz="800" dirty="0"/>
          </a:p>
        </p:txBody>
      </p:sp>
      <p:sp>
        <p:nvSpPr>
          <p:cNvPr id="17" name="Text 15"/>
          <p:cNvSpPr/>
          <p:nvPr/>
        </p:nvSpPr>
        <p:spPr>
          <a:xfrm>
            <a:off x="914400" y="3977640"/>
            <a:ext cx="10058400" cy="3474720"/>
          </a:xfrm>
          <a:prstGeom prst="rect">
            <a:avLst/>
          </a:prstGeom>
          <a:noFill/>
          <a:ln/>
        </p:spPr>
        <p:txBody>
          <a:bodyPr wrap="square" lIns="254" tIns="254" rIns="254" bIns="254" rtlCol="0" anchor="ctr"/>
          <a:lstStyle/>
          <a:p>
            <a:pPr marL="190500" indent="-190500">
              <a:buSzPct val="100000"/>
              <a:buChar char="•"/>
            </a:pPr>
            <a:r>
              <a:rPr lang="en-US" sz="1500" dirty="0">
                <a:solidFill>
                  <a:srgbClr val="172327"/>
                </a:solidFill>
              </a:rPr>
              <a:t>Pass/fail status and duration</a:t>
            </a:r>
            <a:endParaRPr lang="en-US" sz="1500" dirty="0"/>
          </a:p>
          <a:p>
            <a:pPr marL="190500" indent="-190500">
              <a:buSzPct val="100000"/>
              <a:buChar char="•"/>
            </a:pPr>
            <a:r>
              <a:rPr lang="en-US" sz="1500" dirty="0">
                <a:solidFill>
                  <a:srgbClr val="172327"/>
                </a:solidFill>
              </a:rPr>
              <a:t>Executed and missed modules</a:t>
            </a:r>
            <a:endParaRPr lang="en-US" sz="1500" dirty="0"/>
          </a:p>
          <a:p>
            <a:pPr marL="190500" indent="-190500">
              <a:buSzPct val="100000"/>
              <a:buChar char="•"/>
            </a:pPr>
            <a:r>
              <a:rPr lang="en-US" sz="1500" dirty="0">
                <a:solidFill>
                  <a:srgbClr val="172327"/>
                </a:solidFill>
              </a:rPr>
              <a:t>Risk and business impact</a:t>
            </a:r>
            <a:endParaRPr lang="en-US" sz="1500" dirty="0"/>
          </a:p>
          <a:p>
            <a:pPr marL="190500" indent="-190500">
              <a:buSzPct val="100000"/>
              <a:buChar char="•"/>
            </a:pPr>
            <a:r>
              <a:rPr lang="en-US" sz="1500" dirty="0">
                <a:solidFill>
                  <a:srgbClr val="172327"/>
                </a:solidFill>
              </a:rPr>
              <a:t>Automation trends and recovery reports</a:t>
            </a:r>
            <a:endParaRPr lang="en-US" sz="15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08 / RECOVERY</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Never lose the last meaningful action</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latest execution state is saved and available after an interruption.</a:t>
            </a:r>
            <a:endParaRPr lang="en-US" sz="1200" dirty="0"/>
          </a:p>
        </p:txBody>
      </p:sp>
      <p:sp>
        <p:nvSpPr>
          <p:cNvPr id="5" name="Shape 3"/>
          <p:cNvSpPr/>
          <p:nvPr/>
        </p:nvSpPr>
        <p:spPr>
          <a:xfrm>
            <a:off x="594360" y="2423160"/>
            <a:ext cx="1699260" cy="685800"/>
          </a:xfrm>
          <a:prstGeom prst="roundRect">
            <a:avLst>
              <a:gd name="adj" fmla="val 5333"/>
            </a:avLst>
          </a:prstGeom>
          <a:solidFill>
            <a:srgbClr val="FFFFFF"/>
          </a:solidFill>
          <a:ln w="12700">
            <a:solidFill>
              <a:srgbClr val="DCE6E0"/>
            </a:solidFill>
            <a:prstDash val="solid"/>
          </a:ln>
        </p:spPr>
      </p:sp>
      <p:sp>
        <p:nvSpPr>
          <p:cNvPr id="6" name="Text 4"/>
          <p:cNvSpPr/>
          <p:nvPr/>
        </p:nvSpPr>
        <p:spPr>
          <a:xfrm>
            <a:off x="667512"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User</a:t>
            </a:r>
            <a:endParaRPr lang="en-US" sz="1100" dirty="0"/>
          </a:p>
        </p:txBody>
      </p:sp>
      <p:sp>
        <p:nvSpPr>
          <p:cNvPr id="7" name="Text 5"/>
          <p:cNvSpPr/>
          <p:nvPr/>
        </p:nvSpPr>
        <p:spPr>
          <a:xfrm>
            <a:off x="2311908"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8" name="Shape 6"/>
          <p:cNvSpPr/>
          <p:nvPr/>
        </p:nvSpPr>
        <p:spPr>
          <a:xfrm>
            <a:off x="2458212" y="2423160"/>
            <a:ext cx="1699260" cy="685800"/>
          </a:xfrm>
          <a:prstGeom prst="roundRect">
            <a:avLst>
              <a:gd name="adj" fmla="val 5333"/>
            </a:avLst>
          </a:prstGeom>
          <a:solidFill>
            <a:srgbClr val="FFFFFF"/>
          </a:solidFill>
          <a:ln w="12700">
            <a:solidFill>
              <a:srgbClr val="DCE6E0"/>
            </a:solidFill>
            <a:prstDash val="solid"/>
          </a:ln>
        </p:spPr>
      </p:sp>
      <p:sp>
        <p:nvSpPr>
          <p:cNvPr id="9" name="Text 7"/>
          <p:cNvSpPr/>
          <p:nvPr/>
        </p:nvSpPr>
        <p:spPr>
          <a:xfrm>
            <a:off x="2531364"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Login</a:t>
            </a:r>
            <a:endParaRPr lang="en-US" sz="1100" dirty="0"/>
          </a:p>
        </p:txBody>
      </p:sp>
      <p:sp>
        <p:nvSpPr>
          <p:cNvPr id="10" name="Text 8"/>
          <p:cNvSpPr/>
          <p:nvPr/>
        </p:nvSpPr>
        <p:spPr>
          <a:xfrm>
            <a:off x="4175760"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1" name="Shape 9"/>
          <p:cNvSpPr/>
          <p:nvPr/>
        </p:nvSpPr>
        <p:spPr>
          <a:xfrm>
            <a:off x="4322064" y="2423160"/>
            <a:ext cx="1699260" cy="685800"/>
          </a:xfrm>
          <a:prstGeom prst="roundRect">
            <a:avLst>
              <a:gd name="adj" fmla="val 5333"/>
            </a:avLst>
          </a:prstGeom>
          <a:solidFill>
            <a:srgbClr val="FFFFFF"/>
          </a:solidFill>
          <a:ln w="12700">
            <a:solidFill>
              <a:srgbClr val="DCE6E0"/>
            </a:solidFill>
            <a:prstDash val="solid"/>
          </a:ln>
        </p:spPr>
      </p:sp>
      <p:sp>
        <p:nvSpPr>
          <p:cNvPr id="12" name="Text 10"/>
          <p:cNvSpPr/>
          <p:nvPr/>
        </p:nvSpPr>
        <p:spPr>
          <a:xfrm>
            <a:off x="4395216"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Dashboard</a:t>
            </a:r>
            <a:endParaRPr lang="en-US" sz="1100" dirty="0"/>
          </a:p>
        </p:txBody>
      </p:sp>
      <p:sp>
        <p:nvSpPr>
          <p:cNvPr id="13" name="Text 11"/>
          <p:cNvSpPr/>
          <p:nvPr/>
        </p:nvSpPr>
        <p:spPr>
          <a:xfrm>
            <a:off x="6039612"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4" name="Shape 12"/>
          <p:cNvSpPr/>
          <p:nvPr/>
        </p:nvSpPr>
        <p:spPr>
          <a:xfrm>
            <a:off x="6185916" y="2423160"/>
            <a:ext cx="1699260" cy="685800"/>
          </a:xfrm>
          <a:prstGeom prst="roundRect">
            <a:avLst>
              <a:gd name="adj" fmla="val 5333"/>
            </a:avLst>
          </a:prstGeom>
          <a:solidFill>
            <a:srgbClr val="FFFFFF"/>
          </a:solidFill>
          <a:ln w="12700">
            <a:solidFill>
              <a:srgbClr val="DCE6E0"/>
            </a:solidFill>
            <a:prstDash val="solid"/>
          </a:ln>
        </p:spPr>
      </p:sp>
      <p:sp>
        <p:nvSpPr>
          <p:cNvPr id="15" name="Text 13"/>
          <p:cNvSpPr/>
          <p:nvPr/>
        </p:nvSpPr>
        <p:spPr>
          <a:xfrm>
            <a:off x="6259068"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Statements</a:t>
            </a:r>
            <a:endParaRPr lang="en-US" sz="1100" dirty="0"/>
          </a:p>
        </p:txBody>
      </p:sp>
      <p:sp>
        <p:nvSpPr>
          <p:cNvPr id="16" name="Text 14"/>
          <p:cNvSpPr/>
          <p:nvPr/>
        </p:nvSpPr>
        <p:spPr>
          <a:xfrm>
            <a:off x="7903464"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7" name="Shape 15"/>
          <p:cNvSpPr/>
          <p:nvPr/>
        </p:nvSpPr>
        <p:spPr>
          <a:xfrm>
            <a:off x="8049768" y="2423160"/>
            <a:ext cx="1699260" cy="685800"/>
          </a:xfrm>
          <a:prstGeom prst="roundRect">
            <a:avLst>
              <a:gd name="adj" fmla="val 5333"/>
            </a:avLst>
          </a:prstGeom>
          <a:solidFill>
            <a:srgbClr val="FFFFFF"/>
          </a:solidFill>
          <a:ln w="12700">
            <a:solidFill>
              <a:srgbClr val="DCE6E0"/>
            </a:solidFill>
            <a:prstDash val="solid"/>
          </a:ln>
        </p:spPr>
      </p:sp>
      <p:sp>
        <p:nvSpPr>
          <p:cNvPr id="18" name="Text 16"/>
          <p:cNvSpPr/>
          <p:nvPr/>
        </p:nvSpPr>
        <p:spPr>
          <a:xfrm>
            <a:off x="8122920"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Loans</a:t>
            </a:r>
            <a:endParaRPr lang="en-US" sz="1100" dirty="0"/>
          </a:p>
        </p:txBody>
      </p:sp>
      <p:sp>
        <p:nvSpPr>
          <p:cNvPr id="19" name="Text 17"/>
          <p:cNvSpPr/>
          <p:nvPr/>
        </p:nvSpPr>
        <p:spPr>
          <a:xfrm>
            <a:off x="9767316"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20" name="Shape 18"/>
          <p:cNvSpPr/>
          <p:nvPr/>
        </p:nvSpPr>
        <p:spPr>
          <a:xfrm>
            <a:off x="9913620" y="2423160"/>
            <a:ext cx="1699260" cy="685800"/>
          </a:xfrm>
          <a:prstGeom prst="roundRect">
            <a:avLst>
              <a:gd name="adj" fmla="val 5333"/>
            </a:avLst>
          </a:prstGeom>
          <a:solidFill>
            <a:srgbClr val="103332"/>
          </a:solidFill>
          <a:ln w="12700">
            <a:solidFill>
              <a:srgbClr val="103332"/>
            </a:solidFill>
            <a:prstDash val="solid"/>
          </a:ln>
        </p:spPr>
      </p:sp>
      <p:sp>
        <p:nvSpPr>
          <p:cNvPr id="21" name="Text 19"/>
          <p:cNvSpPr/>
          <p:nvPr/>
        </p:nvSpPr>
        <p:spPr>
          <a:xfrm>
            <a:off x="9986772" y="2642616"/>
            <a:ext cx="1552956" cy="228600"/>
          </a:xfrm>
          <a:prstGeom prst="rect">
            <a:avLst/>
          </a:prstGeom>
          <a:noFill/>
          <a:ln/>
        </p:spPr>
        <p:txBody>
          <a:bodyPr wrap="square" lIns="0" tIns="0" rIns="0" bIns="0" rtlCol="0" anchor="ctr"/>
          <a:lstStyle/>
          <a:p>
            <a:pPr algn="ctr" indent="0" marL="0">
              <a:buNone/>
            </a:pPr>
            <a:r>
              <a:rPr lang="en-US" sz="1100" b="1" dirty="0">
                <a:solidFill>
                  <a:srgbClr val="FFFFFF"/>
                </a:solidFill>
              </a:rPr>
              <a:t>Disconnected</a:t>
            </a:r>
            <a:endParaRPr lang="en-US" sz="1100" dirty="0"/>
          </a:p>
        </p:txBody>
      </p:sp>
      <p:sp>
        <p:nvSpPr>
          <p:cNvPr id="22" name="Shape 20"/>
          <p:cNvSpPr/>
          <p:nvPr/>
        </p:nvSpPr>
        <p:spPr>
          <a:xfrm>
            <a:off x="914400" y="3840480"/>
            <a:ext cx="3154680" cy="1280160"/>
          </a:xfrm>
          <a:prstGeom prst="roundRect">
            <a:avLst>
              <a:gd name="adj" fmla="val 3571"/>
            </a:avLst>
          </a:prstGeom>
          <a:solidFill>
            <a:srgbClr val="FFFFFF"/>
          </a:solidFill>
          <a:ln w="12700">
            <a:solidFill>
              <a:srgbClr val="DCE6E0"/>
            </a:solidFill>
            <a:prstDash val="solid"/>
          </a:ln>
        </p:spPr>
      </p:sp>
      <p:sp>
        <p:nvSpPr>
          <p:cNvPr id="23" name="Shape 21"/>
          <p:cNvSpPr/>
          <p:nvPr/>
        </p:nvSpPr>
        <p:spPr>
          <a:xfrm>
            <a:off x="914400" y="3840480"/>
            <a:ext cx="73152" cy="1280160"/>
          </a:xfrm>
          <a:prstGeom prst="rect">
            <a:avLst/>
          </a:prstGeom>
          <a:solidFill>
            <a:srgbClr val="D88B27"/>
          </a:solidFill>
          <a:ln w="12700">
            <a:solidFill>
              <a:srgbClr val="D88B27"/>
            </a:solidFill>
            <a:prstDash val="solid"/>
          </a:ln>
        </p:spPr>
      </p:sp>
      <p:sp>
        <p:nvSpPr>
          <p:cNvPr id="24" name="Text 22"/>
          <p:cNvSpPr/>
          <p:nvPr/>
        </p:nvSpPr>
        <p:spPr>
          <a:xfrm>
            <a:off x="1143000" y="4069080"/>
            <a:ext cx="2743200" cy="274320"/>
          </a:xfrm>
          <a:prstGeom prst="rect">
            <a:avLst/>
          </a:prstGeom>
          <a:noFill/>
          <a:ln/>
        </p:spPr>
        <p:txBody>
          <a:bodyPr wrap="square" lIns="0" tIns="0" rIns="0" bIns="0" rtlCol="0" anchor="ctr"/>
          <a:lstStyle/>
          <a:p>
            <a:pPr indent="0" marL="0">
              <a:buNone/>
            </a:pPr>
            <a:r>
              <a:rPr lang="en-US" sz="1500" b="1" dirty="0">
                <a:solidFill>
                  <a:srgbClr val="172327"/>
                </a:solidFill>
              </a:rPr>
              <a:t>Saved checkpoint</a:t>
            </a:r>
            <a:endParaRPr lang="en-US" sz="1500" dirty="0"/>
          </a:p>
        </p:txBody>
      </p:sp>
      <p:sp>
        <p:nvSpPr>
          <p:cNvPr id="25" name="Text 23"/>
          <p:cNvSpPr/>
          <p:nvPr/>
        </p:nvSpPr>
        <p:spPr>
          <a:xfrm>
            <a:off x="1143000" y="4480560"/>
            <a:ext cx="2743200" cy="457200"/>
          </a:xfrm>
          <a:prstGeom prst="rect">
            <a:avLst/>
          </a:prstGeom>
          <a:noFill/>
          <a:ln/>
        </p:spPr>
        <p:txBody>
          <a:bodyPr wrap="square" lIns="0" tIns="0" rIns="0" bIns="0" rtlCol="0" anchor="ctr"/>
          <a:lstStyle/>
          <a:p>
            <a:pPr indent="0" marL="0">
              <a:buNone/>
            </a:pPr>
            <a:r>
              <a:rPr lang="en-US" sz="1100" dirty="0">
                <a:solidFill>
                  <a:srgbClr val="718080"/>
                </a:solidFill>
              </a:rPr>
              <a:t>Run ID · user · role</a:t>
            </a:r>
            <a:endParaRPr lang="en-US" sz="1100" dirty="0"/>
          </a:p>
          <a:p>
            <a:pPr indent="0" marL="0">
              <a:buNone/>
            </a:pPr>
            <a:r>
              <a:rPr lang="en-US" sz="1100" dirty="0">
                <a:solidFill>
                  <a:srgbClr val="718080"/>
                </a:solidFill>
              </a:rPr>
              <a:t>Last action · current module</a:t>
            </a:r>
            <a:endParaRPr lang="en-US" sz="1100" dirty="0"/>
          </a:p>
          <a:p>
            <a:pPr indent="0" marL="0">
              <a:buNone/>
            </a:pPr>
            <a:r>
              <a:rPr lang="en-US" sz="1100" dirty="0">
                <a:solidFill>
                  <a:srgbClr val="718080"/>
                </a:solidFill>
              </a:rPr>
              <a:t>Timestamp · reason · status</a:t>
            </a:r>
            <a:endParaRPr lang="en-US" sz="1100" dirty="0"/>
          </a:p>
        </p:txBody>
      </p:sp>
      <p:sp>
        <p:nvSpPr>
          <p:cNvPr id="26" name="Shape 24"/>
          <p:cNvSpPr/>
          <p:nvPr/>
        </p:nvSpPr>
        <p:spPr>
          <a:xfrm>
            <a:off x="4526280" y="3840480"/>
            <a:ext cx="3154680" cy="1280160"/>
          </a:xfrm>
          <a:prstGeom prst="roundRect">
            <a:avLst>
              <a:gd name="adj" fmla="val 3571"/>
            </a:avLst>
          </a:prstGeom>
          <a:solidFill>
            <a:srgbClr val="FFFFFF"/>
          </a:solidFill>
          <a:ln w="12700">
            <a:solidFill>
              <a:srgbClr val="DCE6E0"/>
            </a:solidFill>
            <a:prstDash val="solid"/>
          </a:ln>
        </p:spPr>
      </p:sp>
      <p:sp>
        <p:nvSpPr>
          <p:cNvPr id="27" name="Shape 25"/>
          <p:cNvSpPr/>
          <p:nvPr/>
        </p:nvSpPr>
        <p:spPr>
          <a:xfrm>
            <a:off x="4526280" y="3840480"/>
            <a:ext cx="73152" cy="1280160"/>
          </a:xfrm>
          <a:prstGeom prst="rect">
            <a:avLst/>
          </a:prstGeom>
          <a:solidFill>
            <a:srgbClr val="16A36C"/>
          </a:solidFill>
          <a:ln w="12700">
            <a:solidFill>
              <a:srgbClr val="16A36C"/>
            </a:solidFill>
            <a:prstDash val="solid"/>
          </a:ln>
        </p:spPr>
      </p:sp>
      <p:sp>
        <p:nvSpPr>
          <p:cNvPr id="28" name="Text 26"/>
          <p:cNvSpPr/>
          <p:nvPr/>
        </p:nvSpPr>
        <p:spPr>
          <a:xfrm>
            <a:off x="4754880" y="4069080"/>
            <a:ext cx="2743200" cy="274320"/>
          </a:xfrm>
          <a:prstGeom prst="rect">
            <a:avLst/>
          </a:prstGeom>
          <a:noFill/>
          <a:ln/>
        </p:spPr>
        <p:txBody>
          <a:bodyPr wrap="square" lIns="0" tIns="0" rIns="0" bIns="0" rtlCol="0" anchor="ctr"/>
          <a:lstStyle/>
          <a:p>
            <a:pPr indent="0" marL="0">
              <a:buNone/>
            </a:pPr>
            <a:r>
              <a:rPr lang="en-US" sz="1500" b="1" dirty="0">
                <a:solidFill>
                  <a:srgbClr val="172327"/>
                </a:solidFill>
              </a:rPr>
              <a:t>Resume context</a:t>
            </a:r>
            <a:endParaRPr lang="en-US" sz="1500" dirty="0"/>
          </a:p>
        </p:txBody>
      </p:sp>
      <p:sp>
        <p:nvSpPr>
          <p:cNvPr id="29" name="Text 27"/>
          <p:cNvSpPr/>
          <p:nvPr/>
        </p:nvSpPr>
        <p:spPr>
          <a:xfrm>
            <a:off x="4754880" y="4480560"/>
            <a:ext cx="2743200" cy="457200"/>
          </a:xfrm>
          <a:prstGeom prst="rect">
            <a:avLst/>
          </a:prstGeom>
          <a:noFill/>
          <a:ln/>
        </p:spPr>
        <p:txBody>
          <a:bodyPr wrap="square" lIns="0" tIns="0" rIns="0" bIns="0" rtlCol="0" anchor="ctr"/>
          <a:lstStyle/>
          <a:p>
            <a:pPr indent="0" marL="0">
              <a:buNone/>
            </a:pPr>
            <a:r>
              <a:rPr lang="en-US" sz="1100" dirty="0">
                <a:solidFill>
                  <a:srgbClr val="718080"/>
                </a:solidFill>
              </a:rPr>
              <a:t>The recovery banner identifies the latest completed action and opens the recovery report.</a:t>
            </a:r>
            <a:endParaRPr lang="en-US" sz="1100" dirty="0"/>
          </a:p>
        </p:txBody>
      </p:sp>
      <p:sp>
        <p:nvSpPr>
          <p:cNvPr id="30" name="Shape 28"/>
          <p:cNvSpPr/>
          <p:nvPr/>
        </p:nvSpPr>
        <p:spPr>
          <a:xfrm>
            <a:off x="8138160" y="3840480"/>
            <a:ext cx="3154680" cy="1280160"/>
          </a:xfrm>
          <a:prstGeom prst="roundRect">
            <a:avLst>
              <a:gd name="adj" fmla="val 3571"/>
            </a:avLst>
          </a:prstGeom>
          <a:solidFill>
            <a:srgbClr val="FFFFFF"/>
          </a:solidFill>
          <a:ln w="12700">
            <a:solidFill>
              <a:srgbClr val="DCE6E0"/>
            </a:solidFill>
            <a:prstDash val="solid"/>
          </a:ln>
        </p:spPr>
      </p:sp>
      <p:sp>
        <p:nvSpPr>
          <p:cNvPr id="31" name="Shape 29"/>
          <p:cNvSpPr/>
          <p:nvPr/>
        </p:nvSpPr>
        <p:spPr>
          <a:xfrm>
            <a:off x="8138160" y="3840480"/>
            <a:ext cx="73152" cy="1280160"/>
          </a:xfrm>
          <a:prstGeom prst="rect">
            <a:avLst/>
          </a:prstGeom>
          <a:solidFill>
            <a:srgbClr val="103332"/>
          </a:solidFill>
          <a:ln w="12700">
            <a:solidFill>
              <a:srgbClr val="103332"/>
            </a:solidFill>
            <a:prstDash val="solid"/>
          </a:ln>
        </p:spPr>
      </p:sp>
      <p:sp>
        <p:nvSpPr>
          <p:cNvPr id="32" name="Text 30"/>
          <p:cNvSpPr/>
          <p:nvPr/>
        </p:nvSpPr>
        <p:spPr>
          <a:xfrm>
            <a:off x="8366760" y="4069080"/>
            <a:ext cx="2743200" cy="274320"/>
          </a:xfrm>
          <a:prstGeom prst="rect">
            <a:avLst/>
          </a:prstGeom>
          <a:noFill/>
          <a:ln/>
        </p:spPr>
        <p:txBody>
          <a:bodyPr wrap="square" lIns="0" tIns="0" rIns="0" bIns="0" rtlCol="0" anchor="ctr"/>
          <a:lstStyle/>
          <a:p>
            <a:pPr indent="0" marL="0">
              <a:buNone/>
            </a:pPr>
            <a:r>
              <a:rPr lang="en-US" sz="1500" b="1" dirty="0">
                <a:solidFill>
                  <a:srgbClr val="172327"/>
                </a:solidFill>
              </a:rPr>
              <a:t>Management evidence</a:t>
            </a:r>
            <a:endParaRPr lang="en-US" sz="1500" dirty="0"/>
          </a:p>
        </p:txBody>
      </p:sp>
      <p:sp>
        <p:nvSpPr>
          <p:cNvPr id="33" name="Text 31"/>
          <p:cNvSpPr/>
          <p:nvPr/>
        </p:nvSpPr>
        <p:spPr>
          <a:xfrm>
            <a:off x="8366760" y="4480560"/>
            <a:ext cx="2743200" cy="457200"/>
          </a:xfrm>
          <a:prstGeom prst="rect">
            <a:avLst/>
          </a:prstGeom>
          <a:noFill/>
          <a:ln/>
        </p:spPr>
        <p:txBody>
          <a:bodyPr wrap="square" lIns="0" tIns="0" rIns="0" bIns="0" rtlCol="0" anchor="ctr"/>
          <a:lstStyle/>
          <a:p>
            <a:pPr indent="0" marL="0">
              <a:buNone/>
            </a:pPr>
            <a:r>
              <a:rPr lang="en-US" sz="1100" dirty="0">
                <a:solidFill>
                  <a:srgbClr val="718080"/>
                </a:solidFill>
              </a:rPr>
              <a:t>The interruption becomes visible execution history instead of lost context.</a:t>
            </a:r>
            <a:endParaRPr lang="en-US" sz="11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09 / VALUE</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The productivity outcome</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platform turns fragmented test activity into reusable evidence.</a:t>
            </a:r>
            <a:endParaRPr lang="en-US" sz="1200" dirty="0"/>
          </a:p>
        </p:txBody>
      </p:sp>
      <p:sp>
        <p:nvSpPr>
          <p:cNvPr id="5" name="Text 3"/>
          <p:cNvSpPr/>
          <p:nvPr/>
        </p:nvSpPr>
        <p:spPr>
          <a:xfrm>
            <a:off x="960120" y="2011680"/>
            <a:ext cx="5303520" cy="3474720"/>
          </a:xfrm>
          <a:prstGeom prst="rect">
            <a:avLst/>
          </a:prstGeom>
          <a:noFill/>
          <a:ln/>
        </p:spPr>
        <p:txBody>
          <a:bodyPr wrap="square" lIns="254" tIns="254" rIns="254" bIns="254" rtlCol="0" anchor="ctr"/>
          <a:lstStyle/>
          <a:p>
            <a:pPr marL="215900" indent="-215900">
              <a:buSzPct val="100000"/>
              <a:buChar char="•"/>
            </a:pPr>
            <a:r>
              <a:rPr lang="en-US" sz="1700" dirty="0">
                <a:solidFill>
                  <a:srgbClr val="172327"/>
                </a:solidFill>
              </a:rPr>
              <a:t>Lower automation maintenance effort</a:t>
            </a:r>
            <a:endParaRPr lang="en-US" sz="1700" dirty="0"/>
          </a:p>
          <a:p>
            <a:pPr marL="215900" indent="-215900">
              <a:buSzPct val="100000"/>
              <a:buChar char="•"/>
            </a:pPr>
            <a:r>
              <a:rPr lang="en-US" sz="1700" dirty="0">
                <a:solidFill>
                  <a:srgbClr val="172327"/>
                </a:solidFill>
              </a:rPr>
              <a:t>Fewer hardcoded values and brittle scripts</a:t>
            </a:r>
            <a:endParaRPr lang="en-US" sz="1700" dirty="0"/>
          </a:p>
          <a:p>
            <a:pPr marL="215900" indent="-215900">
              <a:buSzPct val="100000"/>
              <a:buChar char="•"/>
            </a:pPr>
            <a:r>
              <a:rPr lang="en-US" sz="1700" dirty="0">
                <a:solidFill>
                  <a:srgbClr val="172327"/>
                </a:solidFill>
              </a:rPr>
              <a:t>Faster validation cycles</a:t>
            </a:r>
            <a:endParaRPr lang="en-US" sz="1700" dirty="0"/>
          </a:p>
          <a:p>
            <a:pPr marL="215900" indent="-215900">
              <a:buSzPct val="100000"/>
              <a:buChar char="•"/>
            </a:pPr>
            <a:r>
              <a:rPr lang="en-US" sz="1700" dirty="0">
                <a:solidFill>
                  <a:srgbClr val="172327"/>
                </a:solidFill>
              </a:rPr>
              <a:t>Reduced regression escape risk</a:t>
            </a:r>
            <a:endParaRPr lang="en-US" sz="1700" dirty="0"/>
          </a:p>
          <a:p>
            <a:pPr marL="215900" indent="-215900">
              <a:buSzPct val="100000"/>
              <a:buChar char="•"/>
            </a:pPr>
            <a:r>
              <a:rPr lang="en-US" sz="1700" dirty="0">
                <a:solidFill>
                  <a:srgbClr val="172327"/>
                </a:solidFill>
              </a:rPr>
              <a:t>Clearer module-level coverage visibility</a:t>
            </a:r>
            <a:endParaRPr lang="en-US" sz="1700" dirty="0"/>
          </a:p>
          <a:p>
            <a:pPr marL="215900" indent="-215900">
              <a:buSzPct val="100000"/>
              <a:buChar char="•"/>
            </a:pPr>
            <a:r>
              <a:rPr lang="en-US" sz="1700" dirty="0">
                <a:solidFill>
                  <a:srgbClr val="172327"/>
                </a:solidFill>
              </a:rPr>
              <a:t>Actionable management reporting</a:t>
            </a:r>
            <a:endParaRPr lang="en-US" sz="1700" dirty="0"/>
          </a:p>
        </p:txBody>
      </p:sp>
      <p:sp>
        <p:nvSpPr>
          <p:cNvPr id="6" name="Shape 4"/>
          <p:cNvSpPr/>
          <p:nvPr/>
        </p:nvSpPr>
        <p:spPr>
          <a:xfrm>
            <a:off x="7132320" y="2011680"/>
            <a:ext cx="4114800" cy="3291840"/>
          </a:xfrm>
          <a:prstGeom prst="roundRect">
            <a:avLst>
              <a:gd name="adj" fmla="val 1389"/>
            </a:avLst>
          </a:prstGeom>
          <a:solidFill>
            <a:srgbClr val="103332"/>
          </a:solidFill>
          <a:ln w="12700">
            <a:solidFill>
              <a:srgbClr val="103332"/>
            </a:solidFill>
            <a:prstDash val="solid"/>
          </a:ln>
        </p:spPr>
      </p:sp>
      <p:sp>
        <p:nvSpPr>
          <p:cNvPr id="7" name="Text 5"/>
          <p:cNvSpPr/>
          <p:nvPr/>
        </p:nvSpPr>
        <p:spPr>
          <a:xfrm>
            <a:off x="7498080" y="2560320"/>
            <a:ext cx="3383280" cy="731520"/>
          </a:xfrm>
          <a:prstGeom prst="rect">
            <a:avLst/>
          </a:prstGeom>
          <a:noFill/>
          <a:ln/>
        </p:spPr>
        <p:txBody>
          <a:bodyPr wrap="square" lIns="0" tIns="0" rIns="0" bIns="0" rtlCol="0" anchor="ctr"/>
          <a:lstStyle/>
          <a:p>
            <a:pPr algn="ctr" indent="0" marL="0">
              <a:buNone/>
            </a:pPr>
            <a:r>
              <a:rPr lang="en-US" sz="2500" b="1" dirty="0">
                <a:solidFill>
                  <a:srgbClr val="BCE76B"/>
                </a:solidFill>
              </a:rPr>
              <a:t>QUALITY</a:t>
            </a:r>
            <a:endParaRPr lang="en-US" sz="2500" dirty="0"/>
          </a:p>
          <a:p>
            <a:pPr algn="ctr" indent="0" marL="0">
              <a:buNone/>
            </a:pPr>
            <a:r>
              <a:rPr lang="en-US" sz="2500" b="1" dirty="0">
                <a:solidFill>
                  <a:srgbClr val="BCE76B"/>
                </a:solidFill>
              </a:rPr>
              <a:t>CONFIDENCE</a:t>
            </a:r>
            <a:endParaRPr lang="en-US" sz="2500" dirty="0"/>
          </a:p>
        </p:txBody>
      </p:sp>
      <p:sp>
        <p:nvSpPr>
          <p:cNvPr id="8" name="Text 6"/>
          <p:cNvSpPr/>
          <p:nvPr/>
        </p:nvSpPr>
        <p:spPr>
          <a:xfrm>
            <a:off x="7543800" y="3794760"/>
            <a:ext cx="3291840" cy="502920"/>
          </a:xfrm>
          <a:prstGeom prst="rect">
            <a:avLst/>
          </a:prstGeom>
          <a:noFill/>
          <a:ln/>
        </p:spPr>
        <p:txBody>
          <a:bodyPr wrap="square" lIns="0" tIns="0" rIns="0" bIns="0" rtlCol="0" anchor="ctr"/>
          <a:lstStyle/>
          <a:p>
            <a:pPr algn="ctr" indent="0" marL="0">
              <a:buNone/>
            </a:pPr>
            <a:r>
              <a:rPr lang="en-US" sz="1600" dirty="0">
                <a:solidFill>
                  <a:srgbClr val="FFFFFF"/>
                </a:solidFill>
              </a:rPr>
              <a:t>measured at the level</a:t>
            </a:r>
            <a:endParaRPr lang="en-US" sz="1600" dirty="0"/>
          </a:p>
          <a:p>
            <a:pPr algn="ctr" indent="0" marL="0">
              <a:buNone/>
            </a:pPr>
            <a:r>
              <a:rPr lang="en-US" sz="1600" dirty="0">
                <a:solidFill>
                  <a:srgbClr val="FFFFFF"/>
                </a:solidFill>
              </a:rPr>
              <a:t>of real functionality</a:t>
            </a:r>
            <a:endParaRPr lang="en-US" sz="16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10 / ROADMAP</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From demonstrator to automation plugin</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prototype establishes the workflow; these additions complete the production story.</a:t>
            </a:r>
            <a:endParaRPr lang="en-US" sz="1200" dirty="0"/>
          </a:p>
        </p:txBody>
      </p:sp>
      <p:sp>
        <p:nvSpPr>
          <p:cNvPr id="5" name="Shape 3"/>
          <p:cNvSpPr/>
          <p:nvPr/>
        </p:nvSpPr>
        <p:spPr>
          <a:xfrm>
            <a:off x="822960" y="1965960"/>
            <a:ext cx="5074920" cy="3246120"/>
          </a:xfrm>
          <a:prstGeom prst="roundRect">
            <a:avLst>
              <a:gd name="adj" fmla="val 1408"/>
            </a:avLst>
          </a:prstGeom>
          <a:solidFill>
            <a:srgbClr val="FFFFFF"/>
          </a:solidFill>
          <a:ln w="12700">
            <a:solidFill>
              <a:srgbClr val="DCE6E0"/>
            </a:solidFill>
            <a:prstDash val="solid"/>
          </a:ln>
        </p:spPr>
      </p:sp>
      <p:sp>
        <p:nvSpPr>
          <p:cNvPr id="6" name="Shape 4"/>
          <p:cNvSpPr/>
          <p:nvPr/>
        </p:nvSpPr>
        <p:spPr>
          <a:xfrm>
            <a:off x="822960" y="1965960"/>
            <a:ext cx="73152" cy="3246120"/>
          </a:xfrm>
          <a:prstGeom prst="rect">
            <a:avLst/>
          </a:prstGeom>
          <a:solidFill>
            <a:srgbClr val="16A36C"/>
          </a:solidFill>
          <a:ln w="12700">
            <a:solidFill>
              <a:srgbClr val="16A36C"/>
            </a:solidFill>
            <a:prstDash val="solid"/>
          </a:ln>
        </p:spPr>
      </p:sp>
      <p:sp>
        <p:nvSpPr>
          <p:cNvPr id="7" name="Text 5"/>
          <p:cNvSpPr/>
          <p:nvPr/>
        </p:nvSpPr>
        <p:spPr>
          <a:xfrm>
            <a:off x="1051560" y="2194560"/>
            <a:ext cx="4663440" cy="274320"/>
          </a:xfrm>
          <a:prstGeom prst="rect">
            <a:avLst/>
          </a:prstGeom>
          <a:noFill/>
          <a:ln/>
        </p:spPr>
        <p:txBody>
          <a:bodyPr wrap="square" lIns="0" tIns="0" rIns="0" bIns="0" rtlCol="0" anchor="ctr"/>
          <a:lstStyle/>
          <a:p>
            <a:pPr indent="0" marL="0">
              <a:buNone/>
            </a:pPr>
            <a:r>
              <a:rPr lang="en-US" sz="1500" b="1" dirty="0">
                <a:solidFill>
                  <a:srgbClr val="172327"/>
                </a:solidFill>
              </a:rPr>
              <a:t>Implemented in this demo</a:t>
            </a:r>
            <a:endParaRPr lang="en-US" sz="1500" dirty="0"/>
          </a:p>
        </p:txBody>
      </p:sp>
      <p:sp>
        <p:nvSpPr>
          <p:cNvPr id="8" name="Text 6"/>
          <p:cNvSpPr/>
          <p:nvPr/>
        </p:nvSpPr>
        <p:spPr>
          <a:xfrm>
            <a:off x="1051560" y="2606040"/>
            <a:ext cx="4663440" cy="2423160"/>
          </a:xfrm>
          <a:prstGeom prst="rect">
            <a:avLst/>
          </a:prstGeom>
          <a:noFill/>
          <a:ln/>
        </p:spPr>
        <p:txBody>
          <a:bodyPr wrap="square" lIns="0" tIns="0" rIns="0" bIns="0" rtlCol="0" anchor="ctr"/>
          <a:lstStyle/>
          <a:p>
            <a:pPr indent="0" marL="0">
              <a:buNone/>
            </a:pPr>
            <a:r>
              <a:rPr lang="en-US" sz="1100" dirty="0">
                <a:solidFill>
                  <a:srgbClr val="718080"/>
                </a:solidFill>
              </a:rPr>
              <a:t>React banking workspace</a:t>
            </a:r>
            <a:endParaRPr lang="en-US" sz="1100" dirty="0"/>
          </a:p>
          <a:p>
            <a:pPr indent="0" marL="0">
              <a:buNone/>
            </a:pPr>
            <a:r>
              <a:rPr lang="en-US" sz="1100" dirty="0">
                <a:solidFill>
                  <a:srgbClr val="718080"/>
                </a:solidFill>
              </a:rPr>
              <a:t>.NET API</a:t>
            </a:r>
            <a:endParaRPr lang="en-US" sz="1100" dirty="0"/>
          </a:p>
          <a:p>
            <a:pPr indent="0" marL="0">
              <a:buNone/>
            </a:pPr>
            <a:r>
              <a:rPr lang="en-US" sz="1100" dirty="0">
                <a:solidFill>
                  <a:srgbClr val="718080"/>
                </a:solidFill>
              </a:rPr>
              <a:t>JSON persistence</a:t>
            </a:r>
            <a:endParaRPr lang="en-US" sz="1100" dirty="0"/>
          </a:p>
          <a:p>
            <a:pPr indent="0" marL="0">
              <a:buNone/>
            </a:pPr>
            <a:r>
              <a:rPr lang="en-US" sz="1100" dirty="0">
                <a:solidFill>
                  <a:srgbClr val="718080"/>
                </a:solidFill>
              </a:rPr>
              <a:t>Coverage dashboard</a:t>
            </a:r>
            <a:endParaRPr lang="en-US" sz="1100" dirty="0"/>
          </a:p>
          <a:p>
            <a:pPr indent="0" marL="0">
              <a:buNone/>
            </a:pPr>
            <a:r>
              <a:rPr lang="en-US" sz="1100" dirty="0">
                <a:solidFill>
                  <a:srgbClr val="718080"/>
                </a:solidFill>
              </a:rPr>
              <a:t>Disabled module demonstration</a:t>
            </a:r>
            <a:endParaRPr lang="en-US" sz="1100" dirty="0"/>
          </a:p>
          <a:p>
            <a:pPr indent="0" marL="0">
              <a:buNone/>
            </a:pPr>
            <a:r>
              <a:rPr lang="en-US" sz="1100" dirty="0">
                <a:solidFill>
                  <a:srgbClr val="718080"/>
                </a:solidFill>
              </a:rPr>
              <a:t>Recovery checkpoints</a:t>
            </a:r>
            <a:endParaRPr lang="en-US" sz="1100" dirty="0"/>
          </a:p>
          <a:p>
            <a:pPr indent="0" marL="0">
              <a:buNone/>
            </a:pPr>
            <a:r>
              <a:rPr lang="en-US" sz="1100" dirty="0">
                <a:solidFill>
                  <a:srgbClr val="718080"/>
                </a:solidFill>
              </a:rPr>
              <a:t>Execution history</a:t>
            </a:r>
            <a:endParaRPr lang="en-US" sz="1100" dirty="0"/>
          </a:p>
        </p:txBody>
      </p:sp>
      <p:sp>
        <p:nvSpPr>
          <p:cNvPr id="9" name="Shape 7"/>
          <p:cNvSpPr/>
          <p:nvPr/>
        </p:nvSpPr>
        <p:spPr>
          <a:xfrm>
            <a:off x="6309360" y="1965960"/>
            <a:ext cx="5074920" cy="3246120"/>
          </a:xfrm>
          <a:prstGeom prst="roundRect">
            <a:avLst>
              <a:gd name="adj" fmla="val 1408"/>
            </a:avLst>
          </a:prstGeom>
          <a:solidFill>
            <a:srgbClr val="FFFFFF"/>
          </a:solidFill>
          <a:ln w="12700">
            <a:solidFill>
              <a:srgbClr val="DCE6E0"/>
            </a:solidFill>
            <a:prstDash val="solid"/>
          </a:ln>
        </p:spPr>
      </p:sp>
      <p:sp>
        <p:nvSpPr>
          <p:cNvPr id="10" name="Shape 8"/>
          <p:cNvSpPr/>
          <p:nvPr/>
        </p:nvSpPr>
        <p:spPr>
          <a:xfrm>
            <a:off x="6309360" y="1965960"/>
            <a:ext cx="73152" cy="3246120"/>
          </a:xfrm>
          <a:prstGeom prst="rect">
            <a:avLst/>
          </a:prstGeom>
          <a:solidFill>
            <a:srgbClr val="D88B27"/>
          </a:solidFill>
          <a:ln w="12700">
            <a:solidFill>
              <a:srgbClr val="D88B27"/>
            </a:solidFill>
            <a:prstDash val="solid"/>
          </a:ln>
        </p:spPr>
      </p:sp>
      <p:sp>
        <p:nvSpPr>
          <p:cNvPr id="11" name="Text 9"/>
          <p:cNvSpPr/>
          <p:nvPr/>
        </p:nvSpPr>
        <p:spPr>
          <a:xfrm>
            <a:off x="6537960" y="2194560"/>
            <a:ext cx="4663440" cy="274320"/>
          </a:xfrm>
          <a:prstGeom prst="rect">
            <a:avLst/>
          </a:prstGeom>
          <a:noFill/>
          <a:ln/>
        </p:spPr>
        <p:txBody>
          <a:bodyPr wrap="square" lIns="0" tIns="0" rIns="0" bIns="0" rtlCol="0" anchor="ctr"/>
          <a:lstStyle/>
          <a:p>
            <a:pPr indent="0" marL="0">
              <a:buNone/>
            </a:pPr>
            <a:r>
              <a:rPr lang="en-US" sz="1500" b="1" dirty="0">
                <a:solidFill>
                  <a:srgbClr val="172327"/>
                </a:solidFill>
              </a:rPr>
              <a:t>Next implementation</a:t>
            </a:r>
            <a:endParaRPr lang="en-US" sz="1500" dirty="0"/>
          </a:p>
        </p:txBody>
      </p:sp>
      <p:sp>
        <p:nvSpPr>
          <p:cNvPr id="12" name="Text 10"/>
          <p:cNvSpPr/>
          <p:nvPr/>
        </p:nvSpPr>
        <p:spPr>
          <a:xfrm>
            <a:off x="6537960" y="2606040"/>
            <a:ext cx="4663440" cy="2423160"/>
          </a:xfrm>
          <a:prstGeom prst="rect">
            <a:avLst/>
          </a:prstGeom>
          <a:noFill/>
          <a:ln/>
        </p:spPr>
        <p:txBody>
          <a:bodyPr wrap="square" lIns="0" tIns="0" rIns="0" bIns="0" rtlCol="0" anchor="ctr"/>
          <a:lstStyle/>
          <a:p>
            <a:pPr indent="0" marL="0">
              <a:buNone/>
            </a:pPr>
            <a:r>
              <a:rPr lang="en-US" sz="1100" dirty="0">
                <a:solidFill>
                  <a:srgbClr val="718080"/>
                </a:solidFill>
              </a:rPr>
              <a:t>Playwright or Selenium runner</a:t>
            </a:r>
            <a:endParaRPr lang="en-US" sz="1100" dirty="0"/>
          </a:p>
          <a:p>
            <a:pPr indent="0" marL="0">
              <a:buNone/>
            </a:pPr>
            <a:r>
              <a:rPr lang="en-US" sz="1100" dirty="0">
                <a:solidFill>
                  <a:srgbClr val="718080"/>
                </a:solidFill>
              </a:rPr>
              <a:t>Real plugin integration</a:t>
            </a:r>
            <a:endParaRPr lang="en-US" sz="1100" dirty="0"/>
          </a:p>
          <a:p>
            <a:pPr indent="0" marL="0">
              <a:buNone/>
            </a:pPr>
            <a:r>
              <a:rPr lang="en-US" sz="1100" dirty="0">
                <a:solidFill>
                  <a:srgbClr val="718080"/>
                </a:solidFill>
              </a:rPr>
              <a:t>Admin and Developer workflows</a:t>
            </a:r>
            <a:endParaRPr lang="en-US" sz="1100" dirty="0"/>
          </a:p>
          <a:p>
            <a:pPr indent="0" marL="0">
              <a:buNone/>
            </a:pPr>
            <a:r>
              <a:rPr lang="en-US" sz="1100" dirty="0">
                <a:solidFill>
                  <a:srgbClr val="718080"/>
                </a:solidFill>
              </a:rPr>
              <a:t>Network interruption detection</a:t>
            </a:r>
            <a:endParaRPr lang="en-US" sz="1100" dirty="0"/>
          </a:p>
          <a:p>
            <a:pPr indent="0" marL="0">
              <a:buNone/>
            </a:pPr>
            <a:r>
              <a:rPr lang="en-US" sz="1100" dirty="0">
                <a:solidFill>
                  <a:srgbClr val="718080"/>
                </a:solidFill>
              </a:rPr>
              <a:t>PDF/CSV reporting</a:t>
            </a:r>
            <a:endParaRPr lang="en-US" sz="1100" dirty="0"/>
          </a:p>
          <a:p>
            <a:pPr indent="0" marL="0">
              <a:buNone/>
            </a:pPr>
            <a:r>
              <a:rPr lang="en-US" sz="1100" dirty="0">
                <a:solidFill>
                  <a:srgbClr val="718080"/>
                </a:solidFill>
              </a:rPr>
              <a:t>Dynamic recommendations</a:t>
            </a:r>
            <a:endParaRPr lang="en-US" sz="1100" dirty="0"/>
          </a:p>
          <a:p>
            <a:pPr indent="0" marL="0">
              <a:buNone/>
            </a:pPr>
            <a:r>
              <a:rPr lang="en-US" sz="1100" dirty="0">
                <a:solidFill>
                  <a:srgbClr val="718080"/>
                </a:solidFill>
              </a:rPr>
              <a:t>25-module sample inventory</a:t>
            </a:r>
            <a:endParaRPr lang="en-US" sz="11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11 / CLOSE</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Automation resiliency. Coverage intelligence. Productivity analytics.</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A unified quality engineering platform for more reliable banking releases.</a:t>
            </a:r>
            <a:endParaRPr lang="en-US" sz="1200" dirty="0"/>
          </a:p>
        </p:txBody>
      </p:sp>
      <p:sp>
        <p:nvSpPr>
          <p:cNvPr id="5" name="Shape 3"/>
          <p:cNvSpPr/>
          <p:nvPr/>
        </p:nvSpPr>
        <p:spPr>
          <a:xfrm>
            <a:off x="594360" y="2514600"/>
            <a:ext cx="2072030" cy="685800"/>
          </a:xfrm>
          <a:prstGeom prst="roundRect">
            <a:avLst>
              <a:gd name="adj" fmla="val 5333"/>
            </a:avLst>
          </a:prstGeom>
          <a:solidFill>
            <a:srgbClr val="FFFFFF"/>
          </a:solidFill>
          <a:ln w="12700">
            <a:solidFill>
              <a:srgbClr val="DCE6E0"/>
            </a:solidFill>
            <a:prstDash val="solid"/>
          </a:ln>
        </p:spPr>
      </p:sp>
      <p:sp>
        <p:nvSpPr>
          <p:cNvPr id="6" name="Text 4"/>
          <p:cNvSpPr/>
          <p:nvPr/>
        </p:nvSpPr>
        <p:spPr>
          <a:xfrm>
            <a:off x="667512"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Build</a:t>
            </a:r>
            <a:endParaRPr lang="en-US" sz="1100" dirty="0"/>
          </a:p>
        </p:txBody>
      </p:sp>
      <p:sp>
        <p:nvSpPr>
          <p:cNvPr id="7" name="Text 5"/>
          <p:cNvSpPr/>
          <p:nvPr/>
        </p:nvSpPr>
        <p:spPr>
          <a:xfrm>
            <a:off x="2684678"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8" name="Shape 6"/>
          <p:cNvSpPr/>
          <p:nvPr/>
        </p:nvSpPr>
        <p:spPr>
          <a:xfrm>
            <a:off x="2830982" y="2514600"/>
            <a:ext cx="2072030" cy="685800"/>
          </a:xfrm>
          <a:prstGeom prst="roundRect">
            <a:avLst>
              <a:gd name="adj" fmla="val 5333"/>
            </a:avLst>
          </a:prstGeom>
          <a:solidFill>
            <a:srgbClr val="FFFFFF"/>
          </a:solidFill>
          <a:ln w="12700">
            <a:solidFill>
              <a:srgbClr val="DCE6E0"/>
            </a:solidFill>
            <a:prstDash val="solid"/>
          </a:ln>
        </p:spPr>
      </p:sp>
      <p:sp>
        <p:nvSpPr>
          <p:cNvPr id="9" name="Text 7"/>
          <p:cNvSpPr/>
          <p:nvPr/>
        </p:nvSpPr>
        <p:spPr>
          <a:xfrm>
            <a:off x="2904134"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Capture</a:t>
            </a:r>
            <a:endParaRPr lang="en-US" sz="1100" dirty="0"/>
          </a:p>
        </p:txBody>
      </p:sp>
      <p:sp>
        <p:nvSpPr>
          <p:cNvPr id="10" name="Text 8"/>
          <p:cNvSpPr/>
          <p:nvPr/>
        </p:nvSpPr>
        <p:spPr>
          <a:xfrm>
            <a:off x="4921301"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1" name="Shape 9"/>
          <p:cNvSpPr/>
          <p:nvPr/>
        </p:nvSpPr>
        <p:spPr>
          <a:xfrm>
            <a:off x="5067605" y="2514600"/>
            <a:ext cx="2072030" cy="685800"/>
          </a:xfrm>
          <a:prstGeom prst="roundRect">
            <a:avLst>
              <a:gd name="adj" fmla="val 5333"/>
            </a:avLst>
          </a:prstGeom>
          <a:solidFill>
            <a:srgbClr val="FFFFFF"/>
          </a:solidFill>
          <a:ln w="12700">
            <a:solidFill>
              <a:srgbClr val="DCE6E0"/>
            </a:solidFill>
            <a:prstDash val="solid"/>
          </a:ln>
        </p:spPr>
      </p:sp>
      <p:sp>
        <p:nvSpPr>
          <p:cNvPr id="12" name="Text 10"/>
          <p:cNvSpPr/>
          <p:nvPr/>
        </p:nvSpPr>
        <p:spPr>
          <a:xfrm>
            <a:off x="5140757"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Correlate</a:t>
            </a:r>
            <a:endParaRPr lang="en-US" sz="1100" dirty="0"/>
          </a:p>
        </p:txBody>
      </p:sp>
      <p:sp>
        <p:nvSpPr>
          <p:cNvPr id="13" name="Text 11"/>
          <p:cNvSpPr/>
          <p:nvPr/>
        </p:nvSpPr>
        <p:spPr>
          <a:xfrm>
            <a:off x="7157923"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4" name="Shape 12"/>
          <p:cNvSpPr/>
          <p:nvPr/>
        </p:nvSpPr>
        <p:spPr>
          <a:xfrm>
            <a:off x="7304227" y="2514600"/>
            <a:ext cx="2072030" cy="685800"/>
          </a:xfrm>
          <a:prstGeom prst="roundRect">
            <a:avLst>
              <a:gd name="adj" fmla="val 5333"/>
            </a:avLst>
          </a:prstGeom>
          <a:solidFill>
            <a:srgbClr val="FFFFFF"/>
          </a:solidFill>
          <a:ln w="12700">
            <a:solidFill>
              <a:srgbClr val="DCE6E0"/>
            </a:solidFill>
            <a:prstDash val="solid"/>
          </a:ln>
        </p:spPr>
      </p:sp>
      <p:sp>
        <p:nvSpPr>
          <p:cNvPr id="15" name="Text 13"/>
          <p:cNvSpPr/>
          <p:nvPr/>
        </p:nvSpPr>
        <p:spPr>
          <a:xfrm>
            <a:off x="7377379"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Understand</a:t>
            </a:r>
            <a:endParaRPr lang="en-US" sz="1100" dirty="0"/>
          </a:p>
        </p:txBody>
      </p:sp>
      <p:sp>
        <p:nvSpPr>
          <p:cNvPr id="16" name="Text 14"/>
          <p:cNvSpPr/>
          <p:nvPr/>
        </p:nvSpPr>
        <p:spPr>
          <a:xfrm>
            <a:off x="9394546"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7" name="Shape 15"/>
          <p:cNvSpPr/>
          <p:nvPr/>
        </p:nvSpPr>
        <p:spPr>
          <a:xfrm>
            <a:off x="9540850" y="2514600"/>
            <a:ext cx="2072030" cy="685800"/>
          </a:xfrm>
          <a:prstGeom prst="roundRect">
            <a:avLst>
              <a:gd name="adj" fmla="val 5333"/>
            </a:avLst>
          </a:prstGeom>
          <a:solidFill>
            <a:srgbClr val="103332"/>
          </a:solidFill>
          <a:ln w="12700">
            <a:solidFill>
              <a:srgbClr val="103332"/>
            </a:solidFill>
            <a:prstDash val="solid"/>
          </a:ln>
        </p:spPr>
      </p:sp>
      <p:sp>
        <p:nvSpPr>
          <p:cNvPr id="18" name="Text 16"/>
          <p:cNvSpPr/>
          <p:nvPr/>
        </p:nvSpPr>
        <p:spPr>
          <a:xfrm>
            <a:off x="9614002" y="2734056"/>
            <a:ext cx="1925726" cy="228600"/>
          </a:xfrm>
          <a:prstGeom prst="rect">
            <a:avLst/>
          </a:prstGeom>
          <a:noFill/>
          <a:ln/>
        </p:spPr>
        <p:txBody>
          <a:bodyPr wrap="square" lIns="0" tIns="0" rIns="0" bIns="0" rtlCol="0" anchor="ctr"/>
          <a:lstStyle/>
          <a:p>
            <a:pPr algn="ctr" indent="0" marL="0">
              <a:buNone/>
            </a:pPr>
            <a:r>
              <a:rPr lang="en-US" sz="1100" b="1" dirty="0">
                <a:solidFill>
                  <a:srgbClr val="FFFFFF"/>
                </a:solidFill>
              </a:rPr>
              <a:t>Improve</a:t>
            </a:r>
            <a:endParaRPr lang="en-US" sz="1100" dirty="0"/>
          </a:p>
        </p:txBody>
      </p:sp>
      <p:sp>
        <p:nvSpPr>
          <p:cNvPr id="19" name="Text 17"/>
          <p:cNvSpPr/>
          <p:nvPr/>
        </p:nvSpPr>
        <p:spPr>
          <a:xfrm>
            <a:off x="731520" y="4709160"/>
            <a:ext cx="10789920" cy="411480"/>
          </a:xfrm>
          <a:prstGeom prst="rect">
            <a:avLst/>
          </a:prstGeom>
          <a:noFill/>
          <a:ln/>
        </p:spPr>
        <p:txBody>
          <a:bodyPr wrap="square" lIns="0" tIns="0" rIns="0" bIns="0" rtlCol="0" anchor="ctr"/>
          <a:lstStyle/>
          <a:p>
            <a:pPr algn="ctr" indent="0" marL="0">
              <a:buNone/>
            </a:pPr>
            <a:r>
              <a:rPr lang="en-US" sz="2500" b="1" dirty="0">
                <a:solidFill>
                  <a:srgbClr val="103332"/>
                </a:solidFill>
              </a:rPr>
              <a:t>Thank you</a:t>
            </a:r>
            <a:endParaRPr lang="en-US" sz="25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PNC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PNC Bank Quality Platform</dc:title>
  <dc:subject>Hackathon solution proposal</dc:subject>
  <dc:creator>PNC Bank Quality Engineering</dc:creator>
  <cp:lastModifiedBy>PNC Bank Quality Engineering</cp:lastModifiedBy>
  <cp:revision>1</cp:revision>
  <dcterms:created xsi:type="dcterms:W3CDTF">2026-09-18T19:03:39Z</dcterms:created>
  <dcterms:modified xsi:type="dcterms:W3CDTF">2026-09-18T19:03:39Z</dcterms:modified>
</cp:coreProperties>
</file>